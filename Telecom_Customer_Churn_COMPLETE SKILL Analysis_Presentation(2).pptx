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8.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charts/chart7.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charts/chart8.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1.xml" ContentType="application/vnd.openxmlformats-officedocument.presentationml.notesSlide+xml"/>
  <Override PartName="/ppt/charts/chart9.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2.xml" ContentType="application/vnd.openxmlformats-officedocument.presentationml.notesSlide+xml"/>
  <Override PartName="/ppt/charts/chart10.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3.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4" r:id="rId15"/>
    <p:sldId id="268" r:id="rId16"/>
    <p:sldId id="269" r:id="rId17"/>
    <p:sldId id="273" r:id="rId18"/>
    <p:sldId id="272" r:id="rId19"/>
    <p:sldId id="27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1F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esktop\telecom_customer_churn%20(1)%20COMPLET%20Eskill%20PROJECT%205.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Desktop\telecom_customer_churn%20(1)%20COMPLET%20Eskill%20PROJECT%205.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esktop\telecom_customer_churn%20(1)%20COMPLET%20Eskill%20PROJECT%205.xlsx" TargetMode="External"/><Relationship Id="rId2" Type="http://schemas.microsoft.com/office/2011/relationships/chartColorStyle" Target="colors3.xml"/><Relationship Id="rId1" Type="http://schemas.microsoft.com/office/2011/relationships/chartStyle" Target="style3.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Desktop\telecom_customer_churn%20(1)%20COMPLET%20Eskill%20PROJECT%205.xlsx" TargetMode="External"/><Relationship Id="rId2" Type="http://schemas.microsoft.com/office/2011/relationships/chartColorStyle" Target="colors4.xml"/><Relationship Id="rId1" Type="http://schemas.microsoft.com/office/2011/relationships/chartStyle" Target="style4.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Desktop\telecom_customer_churn%20(1)%20COMPLET%20Eskill%20PROJECT%205.xlsx" TargetMode="External"/><Relationship Id="rId2" Type="http://schemas.microsoft.com/office/2011/relationships/chartColorStyle" Target="colors5.xml"/><Relationship Id="rId1" Type="http://schemas.microsoft.com/office/2011/relationships/chartStyle" Target="style5.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Desktop\telecom_customer_churn%20(1)%20COMPLET%20Eskill%20PROJECT%205.xlsx" TargetMode="External"/><Relationship Id="rId2" Type="http://schemas.microsoft.com/office/2011/relationships/chartColorStyle" Target="colors6.xml"/><Relationship Id="rId1" Type="http://schemas.microsoft.com/office/2011/relationships/chartStyle" Target="style6.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ER\Desktop\telecom_customer_churn%20(1)%20COMPLET%20Eskill%20PROJECT%205.xlsx" TargetMode="External"/><Relationship Id="rId2" Type="http://schemas.microsoft.com/office/2011/relationships/chartColorStyle" Target="colors7.xml"/><Relationship Id="rId1" Type="http://schemas.microsoft.com/office/2011/relationships/chartStyle" Target="style7.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USER\Desktop\telecom_customer_churn%20(1)%20COMPLET%20Eskill%20PROJECT%205.xlsx" TargetMode="External"/><Relationship Id="rId2" Type="http://schemas.microsoft.com/office/2011/relationships/chartColorStyle" Target="colors8.xml"/><Relationship Id="rId1" Type="http://schemas.microsoft.com/office/2011/relationships/chartStyle" Target="style8.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USER\Desktop\telecom_customer_churn%20(1)%20COMPLET%20Eskill%20PROJECT%205.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4CA3D9"/>
            </a:solidFill>
            <a:prstDash val="solid"/>
          </a:ln>
        </c:spPr>
        <c:txPr>
          <a:bodyPr anchorCtr="1"/>
          <a:lstStyle/>
          <a:p>
            <a:pPr>
              <a:defRPr sz="1800">
                <a:solidFill>
                  <a:srgbClr val="000000"/>
                </a:solidFill>
              </a:defRPr>
            </a:pPr>
            <a:endParaRPr lang="en-US"/>
          </a:p>
        </c:txPr>
        <c:crossAx val="48672768"/>
        <c:crosses val="autoZero"/>
        <c:auto val="1"/>
        <c:lblAlgn val="ctr"/>
        <c:lblOffset val="100"/>
        <c:noMultiLvlLbl val="1"/>
      </c:catAx>
      <c:valAx>
        <c:axId val="48672768"/>
        <c:scaling>
          <c:orientation val="minMax"/>
        </c:scaling>
        <c:delete val="0"/>
        <c:axPos val="b"/>
        <c:numFmt formatCode="#,##0" sourceLinked="1"/>
        <c:majorTickMark val="none"/>
        <c:minorTickMark val="none"/>
        <c:tickLblPos val="nextTo"/>
        <c:spPr>
          <a:ln w="9525">
            <a:solidFill>
              <a:srgbClr val="4CA3D9"/>
            </a:solidFill>
            <a:prstDash val="solid"/>
          </a:ln>
        </c:spPr>
        <c:txPr>
          <a:bodyPr anchorCtr="1"/>
          <a:lstStyle/>
          <a:p>
            <a:pPr>
              <a:defRPr sz="1800">
                <a:solidFill>
                  <a:srgbClr val="000000"/>
                </a:solidFill>
              </a:defRPr>
            </a:pPr>
            <a:endParaRPr lang="en-US"/>
          </a:p>
        </c:txPr>
        <c:crossAx val="48650112"/>
        <c:crosses val="autoZero"/>
        <c:crossBetween val="between"/>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dirty="0"/>
              <a:t>AVERAGE</a:t>
            </a:r>
            <a:r>
              <a:rPr lang="en-US" sz="2000" baseline="0" dirty="0"/>
              <a:t> TENURE OF CUSTOMER</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0B1F39"/>
            </a:solidFill>
            <a:ln>
              <a:solidFill>
                <a:schemeClr val="accent4">
                  <a:lumMod val="60000"/>
                  <a:lumOff val="40000"/>
                </a:schemeClr>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10'!$C$4:$C$6</c:f>
              <c:strCache>
                <c:ptCount val="3"/>
                <c:pt idx="0">
                  <c:v>Stayed</c:v>
                </c:pt>
                <c:pt idx="1">
                  <c:v>Joined</c:v>
                </c:pt>
                <c:pt idx="2">
                  <c:v>Churned</c:v>
                </c:pt>
              </c:strCache>
            </c:strRef>
          </c:cat>
          <c:val>
            <c:numRef>
              <c:f>'TASK 10'!$D$4:$D$6</c:f>
              <c:numCache>
                <c:formatCode>0.00</c:formatCode>
                <c:ptCount val="3"/>
                <c:pt idx="0">
                  <c:v>41.041525423728814</c:v>
                </c:pt>
                <c:pt idx="1">
                  <c:v>17.979133226324237</c:v>
                </c:pt>
                <c:pt idx="2">
                  <c:v>1.7202643171806167</c:v>
                </c:pt>
              </c:numCache>
            </c:numRef>
          </c:val>
          <c:extLst>
            <c:ext xmlns:c16="http://schemas.microsoft.com/office/drawing/2014/chart" uri="{C3380CC4-5D6E-409C-BE32-E72D297353CC}">
              <c16:uniqueId val="{00000000-B82F-4F0F-A8DD-CA262AA1CFCF}"/>
            </c:ext>
          </c:extLst>
        </c:ser>
        <c:dLbls>
          <c:showLegendKey val="0"/>
          <c:showVal val="0"/>
          <c:showCatName val="0"/>
          <c:showSerName val="0"/>
          <c:showPercent val="0"/>
          <c:showBubbleSize val="0"/>
        </c:dLbls>
        <c:gapWidth val="219"/>
        <c:overlap val="-27"/>
        <c:axId val="1569023055"/>
        <c:axId val="1569031791"/>
      </c:barChart>
      <c:catAx>
        <c:axId val="1569023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569031791"/>
        <c:crosses val="autoZero"/>
        <c:auto val="1"/>
        <c:lblAlgn val="ctr"/>
        <c:lblOffset val="100"/>
        <c:noMultiLvlLbl val="0"/>
      </c:catAx>
      <c:valAx>
        <c:axId val="1569031791"/>
        <c:scaling>
          <c:orientation val="minMax"/>
        </c:scaling>
        <c:delete val="1"/>
        <c:axPos val="l"/>
        <c:numFmt formatCode="0.00" sourceLinked="1"/>
        <c:majorTickMark val="none"/>
        <c:minorTickMark val="none"/>
        <c:tickLblPos val="nextTo"/>
        <c:crossAx val="156902305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a:t>CHURN</a:t>
            </a:r>
            <a:r>
              <a:rPr lang="en-US" sz="2000" baseline="0"/>
              <a:t> RATE IN SERVICE TYPE</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rgbClr val="0B1F3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6'!$F$4:$F$7</c:f>
              <c:strCache>
                <c:ptCount val="4"/>
                <c:pt idx="0">
                  <c:v>No Internet Service</c:v>
                </c:pt>
                <c:pt idx="1">
                  <c:v>Cable</c:v>
                </c:pt>
                <c:pt idx="2">
                  <c:v>DSL</c:v>
                </c:pt>
                <c:pt idx="3">
                  <c:v>Fiber Optic</c:v>
                </c:pt>
              </c:strCache>
            </c:strRef>
          </c:cat>
          <c:val>
            <c:numRef>
              <c:f>'TASK 6'!$G$4:$G$7</c:f>
              <c:numCache>
                <c:formatCode>0.00%</c:formatCode>
                <c:ptCount val="4"/>
                <c:pt idx="0">
                  <c:v>7.4049803407601575E-2</c:v>
                </c:pt>
                <c:pt idx="1">
                  <c:v>0.25662650602409637</c:v>
                </c:pt>
                <c:pt idx="2">
                  <c:v>0.18583535108958837</c:v>
                </c:pt>
                <c:pt idx="3">
                  <c:v>0.40724876441515651</c:v>
                </c:pt>
              </c:numCache>
            </c:numRef>
          </c:val>
          <c:extLst>
            <c:ext xmlns:c16="http://schemas.microsoft.com/office/drawing/2014/chart" uri="{C3380CC4-5D6E-409C-BE32-E72D297353CC}">
              <c16:uniqueId val="{00000000-C96F-4B5D-8948-E427CB3E01F4}"/>
            </c:ext>
          </c:extLst>
        </c:ser>
        <c:dLbls>
          <c:showLegendKey val="0"/>
          <c:showVal val="0"/>
          <c:showCatName val="0"/>
          <c:showSerName val="0"/>
          <c:showPercent val="0"/>
          <c:showBubbleSize val="0"/>
        </c:dLbls>
        <c:gapWidth val="182"/>
        <c:axId val="1156224287"/>
        <c:axId val="1156225535"/>
      </c:barChart>
      <c:catAx>
        <c:axId val="115622428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156225535"/>
        <c:crosses val="autoZero"/>
        <c:auto val="1"/>
        <c:lblAlgn val="ctr"/>
        <c:lblOffset val="100"/>
        <c:noMultiLvlLbl val="0"/>
      </c:catAx>
      <c:valAx>
        <c:axId val="1156225535"/>
        <c:scaling>
          <c:orientation val="minMax"/>
        </c:scaling>
        <c:delete val="1"/>
        <c:axPos val="b"/>
        <c:numFmt formatCode="0.00%" sourceLinked="1"/>
        <c:majorTickMark val="none"/>
        <c:minorTickMark val="none"/>
        <c:tickLblPos val="nextTo"/>
        <c:crossAx val="115622428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a:t>CHURN RATE</a:t>
            </a:r>
            <a:r>
              <a:rPr lang="en-US" sz="2000" baseline="0"/>
              <a:t> IN CONTRACT</a:t>
            </a:r>
            <a:endParaRPr lang="en-US" sz="2000"/>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0B1F3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7'!$F$28:$F$30</c:f>
              <c:strCache>
                <c:ptCount val="3"/>
                <c:pt idx="0">
                  <c:v>Month-to-Month</c:v>
                </c:pt>
                <c:pt idx="1">
                  <c:v>One Year</c:v>
                </c:pt>
                <c:pt idx="2">
                  <c:v>Two Year</c:v>
                </c:pt>
              </c:strCache>
            </c:strRef>
          </c:cat>
          <c:val>
            <c:numRef>
              <c:f>'TASK 7'!$G$28:$G$30</c:f>
              <c:numCache>
                <c:formatCode>0.00%</c:formatCode>
                <c:ptCount val="3"/>
                <c:pt idx="0">
                  <c:v>0.45844875346260389</c:v>
                </c:pt>
                <c:pt idx="1">
                  <c:v>0.10709677419354839</c:v>
                </c:pt>
                <c:pt idx="2">
                  <c:v>2.5491237387148168E-2</c:v>
                </c:pt>
              </c:numCache>
            </c:numRef>
          </c:val>
          <c:extLst>
            <c:ext xmlns:c16="http://schemas.microsoft.com/office/drawing/2014/chart" uri="{C3380CC4-5D6E-409C-BE32-E72D297353CC}">
              <c16:uniqueId val="{00000000-9AE5-4EA7-B80D-4EEC0DD9AF15}"/>
            </c:ext>
          </c:extLst>
        </c:ser>
        <c:dLbls>
          <c:showLegendKey val="0"/>
          <c:showVal val="0"/>
          <c:showCatName val="0"/>
          <c:showSerName val="0"/>
          <c:showPercent val="0"/>
          <c:showBubbleSize val="0"/>
        </c:dLbls>
        <c:gapWidth val="219"/>
        <c:overlap val="-27"/>
        <c:axId val="1265090719"/>
        <c:axId val="1265094047"/>
      </c:barChart>
      <c:catAx>
        <c:axId val="12650907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95000"/>
                    <a:lumOff val="5000"/>
                  </a:schemeClr>
                </a:solidFill>
                <a:latin typeface="+mn-lt"/>
                <a:ea typeface="+mn-ea"/>
                <a:cs typeface="+mn-cs"/>
              </a:defRPr>
            </a:pPr>
            <a:endParaRPr lang="en-US"/>
          </a:p>
        </c:txPr>
        <c:crossAx val="1265094047"/>
        <c:crosses val="autoZero"/>
        <c:auto val="1"/>
        <c:lblAlgn val="ctr"/>
        <c:lblOffset val="100"/>
        <c:noMultiLvlLbl val="0"/>
      </c:catAx>
      <c:valAx>
        <c:axId val="1265094047"/>
        <c:scaling>
          <c:orientation val="minMax"/>
        </c:scaling>
        <c:delete val="1"/>
        <c:axPos val="l"/>
        <c:numFmt formatCode="0.00%" sourceLinked="1"/>
        <c:majorTickMark val="none"/>
        <c:minorTickMark val="none"/>
        <c:tickLblPos val="nextTo"/>
        <c:crossAx val="126509071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4CA3D9"/>
            </a:solidFill>
            <a:prstDash val="solid"/>
          </a:ln>
        </c:spPr>
        <c:txPr>
          <a:bodyPr anchorCtr="1"/>
          <a:lstStyle/>
          <a:p>
            <a:pPr>
              <a:defRPr sz="1800">
                <a:solidFill>
                  <a:srgbClr val="000000"/>
                </a:solidFill>
              </a:defRPr>
            </a:pPr>
            <a:endParaRPr lang="en-US"/>
          </a:p>
        </c:txPr>
        <c:crossAx val="48672768"/>
        <c:crosses val="autoZero"/>
        <c:auto val="1"/>
        <c:lblAlgn val="ctr"/>
        <c:lblOffset val="100"/>
        <c:noMultiLvlLbl val="1"/>
      </c:catAx>
      <c:valAx>
        <c:axId val="48672768"/>
        <c:scaling>
          <c:orientation val="minMax"/>
        </c:scaling>
        <c:delete val="0"/>
        <c:axPos val="b"/>
        <c:numFmt formatCode="0.0&quot;%&quot;" sourceLinked="1"/>
        <c:majorTickMark val="none"/>
        <c:minorTickMark val="none"/>
        <c:tickLblPos val="nextTo"/>
        <c:spPr>
          <a:ln w="9525">
            <a:solidFill>
              <a:srgbClr val="4CA3D9"/>
            </a:solidFill>
            <a:prstDash val="solid"/>
          </a:ln>
        </c:spPr>
        <c:txPr>
          <a:bodyPr anchorCtr="1"/>
          <a:lstStyle/>
          <a:p>
            <a:pPr>
              <a:defRPr sz="1800">
                <a:solidFill>
                  <a:srgbClr val="000000"/>
                </a:solidFill>
              </a:defRPr>
            </a:pPr>
            <a:endParaRPr lang="en-US"/>
          </a:p>
        </c:txPr>
        <c:crossAx val="48650112"/>
        <c:crosses val="autoZero"/>
        <c:crossBetween val="between"/>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a:t>CHURN RATE</a:t>
            </a:r>
            <a:r>
              <a:rPr lang="en-US" sz="1800" baseline="0"/>
              <a:t> IN TENURE CATEGORY</a:t>
            </a:r>
            <a:endParaRPr lang="en-US" sz="1800"/>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024-41B3-8C06-7CDD87977515}"/>
              </c:ext>
            </c:extLst>
          </c:dPt>
          <c:dPt>
            <c:idx val="1"/>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003-1024-41B3-8C06-7CDD87977515}"/>
              </c:ext>
            </c:extLst>
          </c:dPt>
          <c:dPt>
            <c:idx val="2"/>
            <c:bubble3D val="0"/>
            <c:spPr>
              <a:solidFill>
                <a:schemeClr val="accent1">
                  <a:lumMod val="20000"/>
                  <a:lumOff val="80000"/>
                </a:schemeClr>
              </a:solidFill>
              <a:ln w="19050">
                <a:solidFill>
                  <a:schemeClr val="lt1"/>
                </a:solidFill>
              </a:ln>
              <a:effectLst/>
            </c:spPr>
            <c:extLst>
              <c:ext xmlns:c16="http://schemas.microsoft.com/office/drawing/2014/chart" uri="{C3380CC4-5D6E-409C-BE32-E72D297353CC}">
                <c16:uniqueId val="{00000005-1024-41B3-8C06-7CDD87977515}"/>
              </c:ext>
            </c:extLst>
          </c:dPt>
          <c:dLbls>
            <c:dLbl>
              <c:idx val="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1024-41B3-8C06-7CDD87977515}"/>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'TASK 7'!$F$5:$F$7</c:f>
              <c:strCache>
                <c:ptCount val="3"/>
                <c:pt idx="0">
                  <c:v>NEW CUSTOMER</c:v>
                </c:pt>
                <c:pt idx="1">
                  <c:v>LONG TENURE</c:v>
                </c:pt>
                <c:pt idx="2">
                  <c:v>SHORT TENURE</c:v>
                </c:pt>
              </c:strCache>
            </c:strRef>
          </c:cat>
          <c:val>
            <c:numRef>
              <c:f>'TASK 7'!$G$5:$G$7</c:f>
              <c:numCache>
                <c:formatCode>0.00%</c:formatCode>
                <c:ptCount val="3"/>
                <c:pt idx="0">
                  <c:v>0.47438243366880145</c:v>
                </c:pt>
                <c:pt idx="1">
                  <c:v>0.14036003130707017</c:v>
                </c:pt>
                <c:pt idx="2">
                  <c:v>0.287109375</c:v>
                </c:pt>
              </c:numCache>
            </c:numRef>
          </c:val>
          <c:extLst>
            <c:ext xmlns:c16="http://schemas.microsoft.com/office/drawing/2014/chart" uri="{C3380CC4-5D6E-409C-BE32-E72D297353CC}">
              <c16:uniqueId val="{00000006-1024-41B3-8C06-7CDD8797751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95000"/>
                  <a:lumOff val="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a:t>CHURN</a:t>
            </a:r>
            <a:r>
              <a:rPr lang="en-US" sz="2000" baseline="0"/>
              <a:t> RATE IN CHARGE CATEGORY</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rgbClr val="0B1F3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7'!$F$17:$F$20</c:f>
              <c:strCache>
                <c:ptCount val="4"/>
                <c:pt idx="0">
                  <c:v>LOW</c:v>
                </c:pt>
                <c:pt idx="1">
                  <c:v>MEDIUM</c:v>
                </c:pt>
                <c:pt idx="2">
                  <c:v>VERY HIGH</c:v>
                </c:pt>
                <c:pt idx="3">
                  <c:v>HIGH</c:v>
                </c:pt>
              </c:strCache>
            </c:strRef>
          </c:cat>
          <c:val>
            <c:numRef>
              <c:f>'TASK 7'!$G$17:$G$20</c:f>
              <c:numCache>
                <c:formatCode>0.00%</c:formatCode>
                <c:ptCount val="4"/>
                <c:pt idx="0">
                  <c:v>0.10722477064220183</c:v>
                </c:pt>
                <c:pt idx="1">
                  <c:v>0.25764895330112719</c:v>
                </c:pt>
                <c:pt idx="2">
                  <c:v>0.33002915451895043</c:v>
                </c:pt>
                <c:pt idx="3">
                  <c:v>0.33988044406490181</c:v>
                </c:pt>
              </c:numCache>
            </c:numRef>
          </c:val>
          <c:extLst>
            <c:ext xmlns:c16="http://schemas.microsoft.com/office/drawing/2014/chart" uri="{C3380CC4-5D6E-409C-BE32-E72D297353CC}">
              <c16:uniqueId val="{00000000-6D98-4F05-BC27-DAFB90CDA6B3}"/>
            </c:ext>
          </c:extLst>
        </c:ser>
        <c:dLbls>
          <c:showLegendKey val="0"/>
          <c:showVal val="0"/>
          <c:showCatName val="0"/>
          <c:showSerName val="0"/>
          <c:showPercent val="0"/>
          <c:showBubbleSize val="0"/>
        </c:dLbls>
        <c:gapWidth val="182"/>
        <c:axId val="1316881999"/>
        <c:axId val="1316884079"/>
      </c:barChart>
      <c:catAx>
        <c:axId val="131688199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316884079"/>
        <c:crosses val="autoZero"/>
        <c:auto val="1"/>
        <c:lblAlgn val="ctr"/>
        <c:lblOffset val="100"/>
        <c:noMultiLvlLbl val="0"/>
      </c:catAx>
      <c:valAx>
        <c:axId val="1316884079"/>
        <c:scaling>
          <c:orientation val="minMax"/>
        </c:scaling>
        <c:delete val="1"/>
        <c:axPos val="b"/>
        <c:numFmt formatCode="0.00%" sourceLinked="1"/>
        <c:majorTickMark val="none"/>
        <c:minorTickMark val="none"/>
        <c:tickLblPos val="nextTo"/>
        <c:crossAx val="131688199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a:t>CHURN RATE</a:t>
            </a:r>
            <a:r>
              <a:rPr lang="en-US" sz="2000" baseline="0"/>
              <a:t> IN AGE</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0B1F3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5 '!$F$37:$F$39</c:f>
              <c:strCache>
                <c:ptCount val="3"/>
                <c:pt idx="0">
                  <c:v>YOUNG</c:v>
                </c:pt>
                <c:pt idx="1">
                  <c:v>MIDDLE AGED</c:v>
                </c:pt>
                <c:pt idx="2">
                  <c:v>ELDERLY</c:v>
                </c:pt>
              </c:strCache>
            </c:strRef>
          </c:cat>
          <c:val>
            <c:numRef>
              <c:f>'TASK 5 '!$G$37:$G$39</c:f>
              <c:numCache>
                <c:formatCode>0.00%</c:formatCode>
                <c:ptCount val="3"/>
                <c:pt idx="0">
                  <c:v>0.22683264177040111</c:v>
                </c:pt>
                <c:pt idx="1">
                  <c:v>0.24448742746615088</c:v>
                </c:pt>
                <c:pt idx="2">
                  <c:v>0.32546963739624291</c:v>
                </c:pt>
              </c:numCache>
            </c:numRef>
          </c:val>
          <c:extLst>
            <c:ext xmlns:c16="http://schemas.microsoft.com/office/drawing/2014/chart" uri="{C3380CC4-5D6E-409C-BE32-E72D297353CC}">
              <c16:uniqueId val="{00000000-9C25-4FE5-8D29-A0337215359C}"/>
            </c:ext>
          </c:extLst>
        </c:ser>
        <c:dLbls>
          <c:showLegendKey val="0"/>
          <c:showVal val="0"/>
          <c:showCatName val="0"/>
          <c:showSerName val="0"/>
          <c:showPercent val="0"/>
          <c:showBubbleSize val="0"/>
        </c:dLbls>
        <c:gapWidth val="219"/>
        <c:overlap val="-27"/>
        <c:axId val="1208485087"/>
        <c:axId val="1208485503"/>
      </c:barChart>
      <c:catAx>
        <c:axId val="1208485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208485503"/>
        <c:crosses val="autoZero"/>
        <c:auto val="1"/>
        <c:lblAlgn val="ctr"/>
        <c:lblOffset val="100"/>
        <c:noMultiLvlLbl val="0"/>
      </c:catAx>
      <c:valAx>
        <c:axId val="1208485503"/>
        <c:scaling>
          <c:orientation val="minMax"/>
        </c:scaling>
        <c:delete val="1"/>
        <c:axPos val="l"/>
        <c:numFmt formatCode="0.00%" sourceLinked="1"/>
        <c:majorTickMark val="none"/>
        <c:minorTickMark val="none"/>
        <c:tickLblPos val="nextTo"/>
        <c:crossAx val="120848508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a:t>TOTAL</a:t>
            </a:r>
            <a:r>
              <a:rPr lang="en-US" sz="1800" baseline="0"/>
              <a:t> REVENUE VS CHURN CATEGORY</a:t>
            </a:r>
            <a:endParaRPr lang="en-US" sz="1800"/>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0B1F3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8'!$D$4:$D$8</c:f>
              <c:strCache>
                <c:ptCount val="5"/>
                <c:pt idx="0">
                  <c:v>Competitor</c:v>
                </c:pt>
                <c:pt idx="1">
                  <c:v>Dissatisfaction</c:v>
                </c:pt>
                <c:pt idx="2">
                  <c:v>Attitude</c:v>
                </c:pt>
                <c:pt idx="3">
                  <c:v>Price</c:v>
                </c:pt>
                <c:pt idx="4">
                  <c:v>Other</c:v>
                </c:pt>
              </c:strCache>
            </c:strRef>
          </c:cat>
          <c:val>
            <c:numRef>
              <c:f>'TASK 8'!$E$4:$E$8</c:f>
              <c:numCache>
                <c:formatCode>[$₦-470]#,##0.00</c:formatCode>
                <c:ptCount val="5"/>
                <c:pt idx="0">
                  <c:v>1694413.1499999978</c:v>
                </c:pt>
                <c:pt idx="1">
                  <c:v>617979.25999999966</c:v>
                </c:pt>
                <c:pt idx="2">
                  <c:v>579554.12999999977</c:v>
                </c:pt>
                <c:pt idx="3">
                  <c:v>438124.14000000025</c:v>
                </c:pt>
                <c:pt idx="4">
                  <c:v>354389.1399999999</c:v>
                </c:pt>
              </c:numCache>
            </c:numRef>
          </c:val>
          <c:extLst>
            <c:ext xmlns:c16="http://schemas.microsoft.com/office/drawing/2014/chart" uri="{C3380CC4-5D6E-409C-BE32-E72D297353CC}">
              <c16:uniqueId val="{00000000-7D36-4FBA-8FE7-BBC56B8CC9EB}"/>
            </c:ext>
          </c:extLst>
        </c:ser>
        <c:dLbls>
          <c:showLegendKey val="0"/>
          <c:showVal val="0"/>
          <c:showCatName val="0"/>
          <c:showSerName val="0"/>
          <c:showPercent val="0"/>
          <c:showBubbleSize val="0"/>
        </c:dLbls>
        <c:gapWidth val="219"/>
        <c:overlap val="-27"/>
        <c:axId val="1316884495"/>
        <c:axId val="1316885327"/>
      </c:barChart>
      <c:catAx>
        <c:axId val="13168844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16885327"/>
        <c:crosses val="autoZero"/>
        <c:auto val="1"/>
        <c:lblAlgn val="ctr"/>
        <c:lblOffset val="100"/>
        <c:noMultiLvlLbl val="0"/>
      </c:catAx>
      <c:valAx>
        <c:axId val="1316885327"/>
        <c:scaling>
          <c:orientation val="minMax"/>
        </c:scaling>
        <c:delete val="1"/>
        <c:axPos val="l"/>
        <c:numFmt formatCode="[$₦-470]#,##0.00" sourceLinked="1"/>
        <c:majorTickMark val="none"/>
        <c:minorTickMark val="none"/>
        <c:tickLblPos val="nextTo"/>
        <c:crossAx val="131688449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a:t>CHURN</a:t>
            </a:r>
            <a:r>
              <a:rPr lang="en-US" sz="2000" baseline="0"/>
              <a:t> IN DATA USAGE CATEGORY</a:t>
            </a:r>
            <a:endParaRPr lang="en-US" sz="2000"/>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B02-4641-846E-28894661D787}"/>
              </c:ext>
            </c:extLst>
          </c:dPt>
          <c:dPt>
            <c:idx val="1"/>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3-3B02-4641-846E-28894661D787}"/>
              </c:ext>
            </c:extLst>
          </c:dPt>
          <c:dLbls>
            <c:dLbl>
              <c:idx val="0"/>
              <c:layout>
                <c:manualLayout>
                  <c:x val="4.6362340961554144E-2"/>
                  <c:y val="-1.85185185185185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B02-4641-846E-28894661D787}"/>
                </c:ext>
              </c:extLst>
            </c:dLbl>
            <c:dLbl>
              <c:idx val="1"/>
              <c:layout>
                <c:manualLayout>
                  <c:x val="-5.6665083397455109E-2"/>
                  <c:y val="-3.24074074074074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B02-4641-846E-28894661D787}"/>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'TASK 9'!$F$5:$F$6</c:f>
              <c:strCache>
                <c:ptCount val="2"/>
                <c:pt idx="0">
                  <c:v>HIGH DATA USER</c:v>
                </c:pt>
                <c:pt idx="1">
                  <c:v>LOW DATA USER</c:v>
                </c:pt>
              </c:strCache>
            </c:strRef>
          </c:cat>
          <c:val>
            <c:numRef>
              <c:f>'TASK 9'!$G$5:$G$6</c:f>
              <c:numCache>
                <c:formatCode>0.00%</c:formatCode>
                <c:ptCount val="2"/>
                <c:pt idx="0">
                  <c:v>0.60936909709104647</c:v>
                </c:pt>
                <c:pt idx="1">
                  <c:v>0.706778889899909</c:v>
                </c:pt>
              </c:numCache>
            </c:numRef>
          </c:val>
          <c:extLst>
            <c:ext xmlns:c16="http://schemas.microsoft.com/office/drawing/2014/chart" uri="{C3380CC4-5D6E-409C-BE32-E72D297353CC}">
              <c16:uniqueId val="{00000004-3B02-4641-846E-28894661D787}"/>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4CA3D9"/>
            </a:solidFill>
            <a:prstDash val="solid"/>
          </a:ln>
        </c:spPr>
        <c:txPr>
          <a:bodyPr anchorCtr="1"/>
          <a:lstStyle/>
          <a:p>
            <a:pPr>
              <a:defRPr sz="1800">
                <a:solidFill>
                  <a:srgbClr val="000000"/>
                </a:solidFill>
              </a:defRPr>
            </a:pPr>
            <a:endParaRPr lang="en-US"/>
          </a:p>
        </c:txPr>
        <c:crossAx val="48672768"/>
        <c:crosses val="autoZero"/>
        <c:auto val="1"/>
        <c:lblAlgn val="ctr"/>
        <c:lblOffset val="100"/>
        <c:noMultiLvlLbl val="1"/>
      </c:catAx>
      <c:valAx>
        <c:axId val="48672768"/>
        <c:scaling>
          <c:orientation val="minMax"/>
        </c:scaling>
        <c:delete val="0"/>
        <c:axPos val="b"/>
        <c:numFmt formatCode="0.0&quot;%&quot;" sourceLinked="1"/>
        <c:majorTickMark val="none"/>
        <c:minorTickMark val="none"/>
        <c:tickLblPos val="nextTo"/>
        <c:spPr>
          <a:ln w="9525">
            <a:solidFill>
              <a:srgbClr val="4CA3D9"/>
            </a:solidFill>
            <a:prstDash val="solid"/>
          </a:ln>
        </c:spPr>
        <c:txPr>
          <a:bodyPr anchorCtr="1"/>
          <a:lstStyle/>
          <a:p>
            <a:pPr>
              <a:defRPr sz="1800">
                <a:solidFill>
                  <a:srgbClr val="000000"/>
                </a:solidFill>
              </a:defRPr>
            </a:pPr>
            <a:endParaRPr lang="en-US"/>
          </a:p>
        </c:txPr>
        <c:crossAx val="48650112"/>
        <c:crosses val="autoZero"/>
        <c:crossBetween val="between"/>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r>
              <a:rPr lang="en-US" sz="1600">
                <a:solidFill>
                  <a:schemeClr val="tx1"/>
                </a:solidFill>
              </a:rPr>
              <a:t>CHURN RATE</a:t>
            </a:r>
            <a:r>
              <a:rPr lang="en-US" sz="1600" baseline="0">
                <a:solidFill>
                  <a:schemeClr val="tx1"/>
                </a:solidFill>
              </a:rPr>
              <a:t> IN CITY</a:t>
            </a:r>
            <a:endParaRPr lang="en-US" sz="1600">
              <a:solidFill>
                <a:schemeClr val="tx1"/>
              </a:solidFill>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endParaRPr lang="en-US"/>
        </a:p>
      </c:txPr>
    </c:title>
    <c:autoTitleDeleted val="0"/>
    <c:plotArea>
      <c:layout/>
      <c:barChart>
        <c:barDir val="bar"/>
        <c:grouping val="clustered"/>
        <c:varyColors val="0"/>
        <c:ser>
          <c:idx val="0"/>
          <c:order val="0"/>
          <c:spPr>
            <a:solidFill>
              <a:srgbClr val="0B1F3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5 '!$F$19:$F$24</c:f>
              <c:strCache>
                <c:ptCount val="6"/>
                <c:pt idx="0">
                  <c:v>Abuloma</c:v>
                </c:pt>
                <c:pt idx="1">
                  <c:v>Agip</c:v>
                </c:pt>
                <c:pt idx="2">
                  <c:v>Isiokpo</c:v>
                </c:pt>
                <c:pt idx="3">
                  <c:v>Rumuodomaya Market</c:v>
                </c:pt>
                <c:pt idx="4">
                  <c:v>Tank Bus Stop</c:v>
                </c:pt>
                <c:pt idx="5">
                  <c:v>UPE Sandfill</c:v>
                </c:pt>
              </c:strCache>
            </c:strRef>
          </c:cat>
          <c:val>
            <c:numRef>
              <c:f>'TASK 5 '!$G$19:$G$24</c:f>
              <c:numCache>
                <c:formatCode>0.00%</c:formatCode>
                <c:ptCount val="6"/>
                <c:pt idx="0">
                  <c:v>0.30188679245283018</c:v>
                </c:pt>
                <c:pt idx="1">
                  <c:v>0.22807017543859648</c:v>
                </c:pt>
                <c:pt idx="2">
                  <c:v>0.19642857142857142</c:v>
                </c:pt>
                <c:pt idx="3">
                  <c:v>0.27450980392156865</c:v>
                </c:pt>
                <c:pt idx="4">
                  <c:v>0.34545454545454546</c:v>
                </c:pt>
                <c:pt idx="5">
                  <c:v>0.28301886792452829</c:v>
                </c:pt>
              </c:numCache>
            </c:numRef>
          </c:val>
          <c:extLst>
            <c:ext xmlns:c16="http://schemas.microsoft.com/office/drawing/2014/chart" uri="{C3380CC4-5D6E-409C-BE32-E72D297353CC}">
              <c16:uniqueId val="{00000000-D4F0-4D56-BC07-CDD2866A06C5}"/>
            </c:ext>
          </c:extLst>
        </c:ser>
        <c:dLbls>
          <c:showLegendKey val="0"/>
          <c:showVal val="0"/>
          <c:showCatName val="0"/>
          <c:showSerName val="0"/>
          <c:showPercent val="0"/>
          <c:showBubbleSize val="0"/>
        </c:dLbls>
        <c:gapWidth val="182"/>
        <c:axId val="626781136"/>
        <c:axId val="626778640"/>
      </c:barChart>
      <c:catAx>
        <c:axId val="62678113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626778640"/>
        <c:crosses val="autoZero"/>
        <c:auto val="1"/>
        <c:lblAlgn val="ctr"/>
        <c:lblOffset val="100"/>
        <c:noMultiLvlLbl val="0"/>
      </c:catAx>
      <c:valAx>
        <c:axId val="626778640"/>
        <c:scaling>
          <c:orientation val="minMax"/>
        </c:scaling>
        <c:delete val="1"/>
        <c:axPos val="b"/>
        <c:numFmt formatCode="0.00%" sourceLinked="1"/>
        <c:majorTickMark val="none"/>
        <c:minorTickMark val="none"/>
        <c:tickLblPos val="nextTo"/>
        <c:crossAx val="62678113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48718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732688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telecom_customer_churn (1) COMPLET Eskill PROJECT 5.xlsx</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49255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a:t>
            </a:r>
          </a:p>
          <a:p>
            <a:r>
              <a:rPr dirty="0"/>
              <a:t>- </a:t>
            </a:r>
            <a:r>
              <a:rPr dirty="0" err="1"/>
              <a:t>telecom_customer_churn</a:t>
            </a:r>
            <a:r>
              <a:rPr dirty="0"/>
              <a:t> (1) COMPLET </a:t>
            </a:r>
            <a:r>
              <a:rPr dirty="0" err="1"/>
              <a:t>Eskill</a:t>
            </a:r>
            <a:r>
              <a:rPr dirty="0"/>
              <a:t> PROJECT 5.xlsx</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39C6224-ED73-4827-A4C1-98E64B6B5A81}"/>
              </a:ext>
            </a:extLst>
          </p:cNvPr>
          <p:cNvSpPr>
            <a:spLocks noGrp="1"/>
          </p:cNvSpPr>
          <p:nvPr/>
        </p:nvSpPr>
        <p:spPr>
          <a:xfrm>
            <a:off x="8048625" y="0"/>
            <a:ext cx="4143375" cy="6858000"/>
          </a:xfrm>
          <a:prstGeom prst="rect">
            <a:avLst/>
          </a:prstGeom>
          <a:solidFill>
            <a:srgbClr val="BFE7F8"/>
          </a:solidFill>
          <a:ln w="0">
            <a:solidFill>
              <a:srgbClr val="BFE7F8"/>
            </a:solidFill>
            <a:prstDash val="solid"/>
          </a:ln>
        </p:spPr>
      </p:sp>
      <p:sp>
        <p:nvSpPr>
          <p:cNvPr id="2" name="Rectangle 1">
            <a:extLst>
              <a:ext uri="{FF2B5EF4-FFF2-40B4-BE49-F238E27FC236}">
                <a16:creationId xmlns:a16="http://schemas.microsoft.com/office/drawing/2014/main" id="{92F8BE98-A35C-4BAB-9C25-E391DB8DF59B}"/>
              </a:ext>
            </a:extLst>
          </p:cNvPr>
          <p:cNvSpPr>
            <a:spLocks noGrp="1"/>
          </p:cNvSpPr>
          <p:nvPr/>
        </p:nvSpPr>
        <p:spPr>
          <a:xfrm>
            <a:off x="8048625" y="0"/>
            <a:ext cx="114300" cy="685800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E2EA4427-1EAC-4A2F-8460-9F223BBA4111}"/>
              </a:ext>
            </a:extLst>
          </p:cNvPr>
          <p:cNvSpPr>
            <a:spLocks noGrp="1"/>
          </p:cNvSpPr>
          <p:nvPr/>
        </p:nvSpPr>
        <p:spPr>
          <a:xfrm>
            <a:off x="714375" y="904875"/>
            <a:ext cx="6191250" cy="381000"/>
          </a:xfrm>
          <a:prstGeom prst="rect">
            <a:avLst/>
          </a:prstGeom>
          <a:noFill/>
          <a:ln w="0">
            <a:noFill/>
            <a:prstDash val="solid"/>
          </a:ln>
        </p:spPr>
        <p:txBody>
          <a:bodyPr/>
          <a:lstStyle/>
          <a:p>
            <a:pPr algn="l">
              <a:defRPr sz="1800" b="1">
                <a:solidFill>
                  <a:srgbClr val="2F80B7"/>
                </a:solidFill>
              </a:defRPr>
            </a:pPr>
            <a:r>
              <a:rPr sz="1800" b="1">
                <a:solidFill>
                  <a:srgbClr val="2F80B7"/>
                </a:solidFill>
              </a:rPr>
              <a:t>CUSTOMER RETENTION</a:t>
            </a:r>
          </a:p>
        </p:txBody>
      </p:sp>
      <p:sp>
        <p:nvSpPr>
          <p:cNvPr id="4" name="Rectangle 3">
            <a:extLst>
              <a:ext uri="{FF2B5EF4-FFF2-40B4-BE49-F238E27FC236}">
                <a16:creationId xmlns:a16="http://schemas.microsoft.com/office/drawing/2014/main" id="{57587C19-11C5-42DB-BCC0-37635DDC1E75}"/>
              </a:ext>
            </a:extLst>
          </p:cNvPr>
          <p:cNvSpPr>
            <a:spLocks noGrp="1"/>
          </p:cNvSpPr>
          <p:nvPr/>
        </p:nvSpPr>
        <p:spPr>
          <a:xfrm>
            <a:off x="714375" y="1666875"/>
            <a:ext cx="6667500" cy="1285875"/>
          </a:xfrm>
          <a:prstGeom prst="rect">
            <a:avLst/>
          </a:prstGeom>
          <a:noFill/>
          <a:ln w="0">
            <a:noFill/>
            <a:prstDash val="solid"/>
          </a:ln>
        </p:spPr>
        <p:txBody>
          <a:bodyPr/>
          <a:lstStyle/>
          <a:p>
            <a:pPr algn="l">
              <a:defRPr sz="1950" b="1">
                <a:solidFill>
                  <a:srgbClr val="000000"/>
                </a:solidFill>
              </a:defRPr>
            </a:pPr>
            <a:r>
              <a:rPr sz="1950" b="1">
                <a:solidFill>
                  <a:srgbClr val="000000"/>
                </a:solidFill>
              </a:rPr>
              <a:t>Telecom Customer</a:t>
            </a:r>
          </a:p>
          <a:p>
            <a:pPr algn="l">
              <a:defRPr sz="1950" b="1">
                <a:solidFill>
                  <a:srgbClr val="000000"/>
                </a:solidFill>
              </a:defRPr>
            </a:pPr>
            <a:r>
              <a:rPr sz="1950" b="1">
                <a:solidFill>
                  <a:srgbClr val="000000"/>
                </a:solidFill>
              </a:rPr>
              <a:t>Churn Analysis</a:t>
            </a:r>
          </a:p>
        </p:txBody>
      </p:sp>
      <p:sp>
        <p:nvSpPr>
          <p:cNvPr id="5" name="Rectangle 4">
            <a:extLst>
              <a:ext uri="{FF2B5EF4-FFF2-40B4-BE49-F238E27FC236}">
                <a16:creationId xmlns:a16="http://schemas.microsoft.com/office/drawing/2014/main" id="{4BD7990D-44B5-4330-9BEE-A54693490728}"/>
              </a:ext>
            </a:extLst>
          </p:cNvPr>
          <p:cNvSpPr>
            <a:spLocks noGrp="1"/>
          </p:cNvSpPr>
          <p:nvPr/>
        </p:nvSpPr>
        <p:spPr>
          <a:xfrm>
            <a:off x="714375" y="3286125"/>
            <a:ext cx="6572250" cy="952500"/>
          </a:xfrm>
          <a:prstGeom prst="rect">
            <a:avLst/>
          </a:prstGeom>
          <a:noFill/>
          <a:ln w="0">
            <a:noFill/>
            <a:prstDash val="solid"/>
          </a:ln>
        </p:spPr>
        <p:txBody>
          <a:bodyPr/>
          <a:lstStyle/>
          <a:p>
            <a:pPr algn="l">
              <a:defRPr sz="1800" b="0">
                <a:solidFill>
                  <a:srgbClr val="000000"/>
                </a:solidFill>
              </a:defRPr>
            </a:pPr>
            <a:r>
              <a:rPr sz="1800" b="0">
                <a:solidFill>
                  <a:srgbClr val="000000"/>
                </a:solidFill>
              </a:rPr>
              <a:t>Identifying the customers most at risk and the actions that can improve retention</a:t>
            </a:r>
          </a:p>
        </p:txBody>
      </p:sp>
      <p:sp>
        <p:nvSpPr>
          <p:cNvPr id="6" name="Rectangle: Rounded Corners 5">
            <a:extLst>
              <a:ext uri="{FF2B5EF4-FFF2-40B4-BE49-F238E27FC236}">
                <a16:creationId xmlns:a16="http://schemas.microsoft.com/office/drawing/2014/main" id="{70C97A65-E4F7-4734-9337-D1714302A115}"/>
              </a:ext>
            </a:extLst>
          </p:cNvPr>
          <p:cNvSpPr>
            <a:spLocks noGrp="1"/>
          </p:cNvSpPr>
          <p:nvPr/>
        </p:nvSpPr>
        <p:spPr>
          <a:xfrm>
            <a:off x="8572500" y="2143125"/>
            <a:ext cx="3095625" cy="1714500"/>
          </a:xfrm>
          <a:prstGeom prst="roundRect">
            <a:avLst>
              <a:gd name="adj" fmla="val 6667"/>
            </a:avLst>
          </a:prstGeom>
          <a:solidFill>
            <a:srgbClr val="FFFFFF"/>
          </a:solidFill>
          <a:ln w="19050">
            <a:solidFill>
              <a:srgbClr val="2F80B7"/>
            </a:solidFill>
            <a:prstDash val="solid"/>
          </a:ln>
        </p:spPr>
      </p:sp>
      <p:sp>
        <p:nvSpPr>
          <p:cNvPr id="7" name="Rectangle 6">
            <a:extLst>
              <a:ext uri="{FF2B5EF4-FFF2-40B4-BE49-F238E27FC236}">
                <a16:creationId xmlns:a16="http://schemas.microsoft.com/office/drawing/2014/main" id="{CAD291B4-92E2-4B3A-9C91-B737A6CA24B9}"/>
              </a:ext>
            </a:extLst>
          </p:cNvPr>
          <p:cNvSpPr>
            <a:spLocks noGrp="1"/>
          </p:cNvSpPr>
          <p:nvPr/>
        </p:nvSpPr>
        <p:spPr>
          <a:xfrm>
            <a:off x="8858250" y="2476500"/>
            <a:ext cx="2524125" cy="428625"/>
          </a:xfrm>
          <a:prstGeom prst="rect">
            <a:avLst/>
          </a:prstGeom>
          <a:noFill/>
          <a:ln w="0">
            <a:noFill/>
            <a:prstDash val="solid"/>
          </a:ln>
        </p:spPr>
        <p:txBody>
          <a:bodyPr/>
          <a:lstStyle/>
          <a:p>
            <a:pPr algn="ctr">
              <a:defRPr sz="1950" b="1">
                <a:solidFill>
                  <a:srgbClr val="2F80B7"/>
                </a:solidFill>
              </a:defRPr>
            </a:pPr>
            <a:r>
              <a:rPr sz="1950" b="1">
                <a:solidFill>
                  <a:srgbClr val="2F80B7"/>
                </a:solidFill>
              </a:rPr>
              <a:t>7,043</a:t>
            </a:r>
          </a:p>
        </p:txBody>
      </p:sp>
      <p:sp>
        <p:nvSpPr>
          <p:cNvPr id="8" name="Rectangle 7">
            <a:extLst>
              <a:ext uri="{FF2B5EF4-FFF2-40B4-BE49-F238E27FC236}">
                <a16:creationId xmlns:a16="http://schemas.microsoft.com/office/drawing/2014/main" id="{FD28CAB8-31C0-4D20-BB0A-3A24F185394E}"/>
              </a:ext>
            </a:extLst>
          </p:cNvPr>
          <p:cNvSpPr>
            <a:spLocks noGrp="1"/>
          </p:cNvSpPr>
          <p:nvPr/>
        </p:nvSpPr>
        <p:spPr>
          <a:xfrm>
            <a:off x="8858250" y="3048000"/>
            <a:ext cx="2524125" cy="361950"/>
          </a:xfrm>
          <a:prstGeom prst="rect">
            <a:avLst/>
          </a:prstGeom>
          <a:noFill/>
          <a:ln w="0">
            <a:noFill/>
            <a:prstDash val="solid"/>
          </a:ln>
        </p:spPr>
        <p:txBody>
          <a:bodyPr/>
          <a:lstStyle/>
          <a:p>
            <a:pPr algn="ctr">
              <a:defRPr sz="1800" b="1">
                <a:solidFill>
                  <a:srgbClr val="000000"/>
                </a:solidFill>
              </a:defRPr>
            </a:pPr>
            <a:r>
              <a:rPr sz="1800" b="1">
                <a:solidFill>
                  <a:srgbClr val="000000"/>
                </a:solidFill>
              </a:rPr>
              <a:t>customers analysed</a:t>
            </a:r>
          </a:p>
        </p:txBody>
      </p:sp>
      <p:sp>
        <p:nvSpPr>
          <p:cNvPr id="9" name="Rectangle 8">
            <a:extLst>
              <a:ext uri="{FF2B5EF4-FFF2-40B4-BE49-F238E27FC236}">
                <a16:creationId xmlns:a16="http://schemas.microsoft.com/office/drawing/2014/main" id="{679640C2-EBC9-4210-83F4-93CEC6E89F07}"/>
              </a:ext>
            </a:extLst>
          </p:cNvPr>
          <p:cNvSpPr>
            <a:spLocks noGrp="1"/>
          </p:cNvSpPr>
          <p:nvPr/>
        </p:nvSpPr>
        <p:spPr>
          <a:xfrm>
            <a:off x="8572500" y="4476750"/>
            <a:ext cx="3095625" cy="523875"/>
          </a:xfrm>
          <a:prstGeom prst="rect">
            <a:avLst/>
          </a:prstGeom>
          <a:noFill/>
          <a:ln w="0">
            <a:noFill/>
            <a:prstDash val="solid"/>
          </a:ln>
        </p:spPr>
        <p:txBody>
          <a:bodyPr/>
          <a:lstStyle/>
          <a:p>
            <a:pPr algn="ctr">
              <a:defRPr sz="1950" b="1">
                <a:solidFill>
                  <a:srgbClr val="2F80B7"/>
                </a:solidFill>
              </a:defRPr>
            </a:pPr>
            <a:r>
              <a:rPr sz="1950" b="1">
                <a:solidFill>
                  <a:srgbClr val="2F80B7"/>
                </a:solidFill>
              </a:rPr>
              <a:t>26.54% churn rate</a:t>
            </a:r>
          </a:p>
        </p:txBody>
      </p:sp>
      <p:sp>
        <p:nvSpPr>
          <p:cNvPr id="10" name="Rectangle 9">
            <a:extLst>
              <a:ext uri="{FF2B5EF4-FFF2-40B4-BE49-F238E27FC236}">
                <a16:creationId xmlns:a16="http://schemas.microsoft.com/office/drawing/2014/main" id="{75D10194-48A4-46CD-BDCB-7AEA7EF526AE}"/>
              </a:ext>
            </a:extLst>
          </p:cNvPr>
          <p:cNvSpPr>
            <a:spLocks noGrp="1"/>
          </p:cNvSpPr>
          <p:nvPr/>
        </p:nvSpPr>
        <p:spPr>
          <a:xfrm>
            <a:off x="714375" y="5810250"/>
            <a:ext cx="6667500" cy="428625"/>
          </a:xfrm>
          <a:prstGeom prst="rect">
            <a:avLst/>
          </a:prstGeom>
          <a:noFill/>
          <a:ln w="0">
            <a:noFill/>
            <a:prstDash val="solid"/>
          </a:ln>
        </p:spPr>
        <p:txBody>
          <a:bodyPr/>
          <a:lstStyle/>
          <a:p>
            <a:pPr algn="l">
              <a:defRPr sz="1800" b="0">
                <a:solidFill>
                  <a:srgbClr val="2F80B7"/>
                </a:solidFill>
              </a:defRPr>
            </a:pPr>
            <a:r>
              <a:rPr sz="1800" b="0">
                <a:solidFill>
                  <a:srgbClr val="2F80B7"/>
                </a:solidFill>
              </a:rPr>
              <a:t>Prepared from the completed Excel analysis workbook</a:t>
            </a:r>
          </a:p>
        </p:txBody>
      </p:sp>
    </p:spTree>
    <p:extLst>
      <p:ext uri="{BB962C8B-B14F-4D97-AF65-F5344CB8AC3E}">
        <p14:creationId xmlns:p14="http://schemas.microsoft.com/office/powerpoint/2010/main" val="1800266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2CF2F94-3950-4E23-A210-03B268C7FBF6}"/>
              </a:ext>
            </a:extLst>
          </p:cNvPr>
          <p:cNvSpPr>
            <a:spLocks noGrp="1"/>
          </p:cNvSpPr>
          <p:nvPr/>
        </p:nvSpPr>
        <p:spPr>
          <a:xfrm>
            <a:off x="0" y="0"/>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B122C363-6C76-4311-953D-93ABBD66CE87}"/>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68CBEDE1-5D8D-479E-B5C6-B2EE8D7456FD}"/>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TELECOM CUSTOMER CHURN ANALYSIS</a:t>
            </a:r>
          </a:p>
        </p:txBody>
      </p:sp>
      <p:sp>
        <p:nvSpPr>
          <p:cNvPr id="4" name="Rectangle 3">
            <a:extLst>
              <a:ext uri="{FF2B5EF4-FFF2-40B4-BE49-F238E27FC236}">
                <a16:creationId xmlns:a16="http://schemas.microsoft.com/office/drawing/2014/main" id="{886F7FEA-48C0-48D9-A0DB-DA41E5ED0A94}"/>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sz="1950" b="1">
                <a:solidFill>
                  <a:srgbClr val="000000"/>
                </a:solidFill>
              </a:rPr>
              <a:t>The analysis focuses on the customer groups most likely to leave</a:t>
            </a:r>
          </a:p>
        </p:txBody>
      </p:sp>
      <p:sp>
        <p:nvSpPr>
          <p:cNvPr id="5" name="Rectangle: Rounded Corners 4">
            <a:extLst>
              <a:ext uri="{FF2B5EF4-FFF2-40B4-BE49-F238E27FC236}">
                <a16:creationId xmlns:a16="http://schemas.microsoft.com/office/drawing/2014/main" id="{B2BA7667-3D42-4429-AEB9-7466E20388BB}"/>
              </a:ext>
            </a:extLst>
          </p:cNvPr>
          <p:cNvSpPr>
            <a:spLocks noGrp="1"/>
          </p:cNvSpPr>
          <p:nvPr/>
        </p:nvSpPr>
        <p:spPr>
          <a:xfrm>
            <a:off x="619125" y="1809750"/>
            <a:ext cx="10953750" cy="1571625"/>
          </a:xfrm>
          <a:prstGeom prst="roundRect">
            <a:avLst>
              <a:gd name="adj" fmla="val 7273"/>
            </a:avLst>
          </a:prstGeom>
          <a:solidFill>
            <a:srgbClr val="EAF7FD"/>
          </a:solidFill>
          <a:ln w="19050">
            <a:solidFill>
              <a:srgbClr val="2F80B7"/>
            </a:solidFill>
            <a:prstDash val="solid"/>
          </a:ln>
        </p:spPr>
      </p:sp>
      <p:sp>
        <p:nvSpPr>
          <p:cNvPr id="6" name="Rectangle 5">
            <a:extLst>
              <a:ext uri="{FF2B5EF4-FFF2-40B4-BE49-F238E27FC236}">
                <a16:creationId xmlns:a16="http://schemas.microsoft.com/office/drawing/2014/main" id="{395D87FF-07AB-4E6D-8555-81F71F5A80F3}"/>
              </a:ext>
            </a:extLst>
          </p:cNvPr>
          <p:cNvSpPr>
            <a:spLocks noGrp="1"/>
          </p:cNvSpPr>
          <p:nvPr/>
        </p:nvSpPr>
        <p:spPr>
          <a:xfrm>
            <a:off x="904875" y="2095500"/>
            <a:ext cx="285750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Project purpose</a:t>
            </a:r>
          </a:p>
        </p:txBody>
      </p:sp>
      <p:sp>
        <p:nvSpPr>
          <p:cNvPr id="7" name="Rectangle 6">
            <a:extLst>
              <a:ext uri="{FF2B5EF4-FFF2-40B4-BE49-F238E27FC236}">
                <a16:creationId xmlns:a16="http://schemas.microsoft.com/office/drawing/2014/main" id="{E53EDFB7-891B-4DFA-8456-05CD2E4E0997}"/>
              </a:ext>
            </a:extLst>
          </p:cNvPr>
          <p:cNvSpPr>
            <a:spLocks noGrp="1"/>
          </p:cNvSpPr>
          <p:nvPr/>
        </p:nvSpPr>
        <p:spPr>
          <a:xfrm>
            <a:off x="904875" y="2571750"/>
            <a:ext cx="10096500" cy="571500"/>
          </a:xfrm>
          <a:prstGeom prst="rect">
            <a:avLst/>
          </a:prstGeom>
          <a:noFill/>
          <a:ln w="0">
            <a:noFill/>
            <a:prstDash val="solid"/>
          </a:ln>
        </p:spPr>
        <p:txBody>
          <a:bodyPr/>
          <a:lstStyle/>
          <a:p>
            <a:pPr algn="l">
              <a:defRPr sz="1800" b="0">
                <a:solidFill>
                  <a:srgbClr val="000000"/>
                </a:solidFill>
              </a:defRPr>
            </a:pPr>
            <a:r>
              <a:rPr sz="1800" b="0">
                <a:solidFill>
                  <a:srgbClr val="000000"/>
                </a:solidFill>
              </a:rPr>
              <a:t>Measure customer churn and identify the service, contract, tenure, pricing and demographic factors associated with customer loss.</a:t>
            </a:r>
          </a:p>
        </p:txBody>
      </p:sp>
      <p:sp>
        <p:nvSpPr>
          <p:cNvPr id="8" name="Rectangle: Rounded Corners 7">
            <a:extLst>
              <a:ext uri="{FF2B5EF4-FFF2-40B4-BE49-F238E27FC236}">
                <a16:creationId xmlns:a16="http://schemas.microsoft.com/office/drawing/2014/main" id="{EA1D4489-A023-41E7-9A90-1A333396905F}"/>
              </a:ext>
            </a:extLst>
          </p:cNvPr>
          <p:cNvSpPr>
            <a:spLocks noGrp="1"/>
          </p:cNvSpPr>
          <p:nvPr/>
        </p:nvSpPr>
        <p:spPr>
          <a:xfrm>
            <a:off x="619125" y="3714750"/>
            <a:ext cx="10953750" cy="1952625"/>
          </a:xfrm>
          <a:prstGeom prst="roundRect">
            <a:avLst>
              <a:gd name="adj" fmla="val 5854"/>
            </a:avLst>
          </a:prstGeom>
          <a:solidFill>
            <a:srgbClr val="FFFFFF"/>
          </a:solidFill>
          <a:ln w="19050">
            <a:solidFill>
              <a:srgbClr val="2F80B7"/>
            </a:solidFill>
            <a:prstDash val="solid"/>
          </a:ln>
        </p:spPr>
      </p:sp>
      <p:sp>
        <p:nvSpPr>
          <p:cNvPr id="9" name="Rectangle 8">
            <a:extLst>
              <a:ext uri="{FF2B5EF4-FFF2-40B4-BE49-F238E27FC236}">
                <a16:creationId xmlns:a16="http://schemas.microsoft.com/office/drawing/2014/main" id="{1F85CA69-3FA6-4130-863D-14DB0D7549EC}"/>
              </a:ext>
            </a:extLst>
          </p:cNvPr>
          <p:cNvSpPr>
            <a:spLocks noGrp="1"/>
          </p:cNvSpPr>
          <p:nvPr/>
        </p:nvSpPr>
        <p:spPr>
          <a:xfrm>
            <a:off x="904875" y="4000500"/>
            <a:ext cx="304800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Analysis objectives</a:t>
            </a:r>
          </a:p>
        </p:txBody>
      </p:sp>
      <p:sp>
        <p:nvSpPr>
          <p:cNvPr id="10" name="Rectangle 9">
            <a:extLst>
              <a:ext uri="{FF2B5EF4-FFF2-40B4-BE49-F238E27FC236}">
                <a16:creationId xmlns:a16="http://schemas.microsoft.com/office/drawing/2014/main" id="{4075DB7E-E3CE-4CCE-BF9A-E372B6601096}"/>
              </a:ext>
            </a:extLst>
          </p:cNvPr>
          <p:cNvSpPr>
            <a:spLocks noGrp="1"/>
          </p:cNvSpPr>
          <p:nvPr/>
        </p:nvSpPr>
        <p:spPr>
          <a:xfrm>
            <a:off x="904875" y="4476750"/>
            <a:ext cx="10096500" cy="1047750"/>
          </a:xfrm>
          <a:prstGeom prst="rect">
            <a:avLst/>
          </a:prstGeom>
          <a:noFill/>
          <a:ln w="0">
            <a:noFill/>
            <a:prstDash val="solid"/>
          </a:ln>
        </p:spPr>
        <p:txBody>
          <a:bodyPr/>
          <a:lstStyle/>
          <a:p>
            <a:pPr algn="l">
              <a:defRPr sz="1800" b="0">
                <a:solidFill>
                  <a:srgbClr val="000000"/>
                </a:solidFill>
              </a:defRPr>
            </a:pPr>
            <a:r>
              <a:rPr sz="1800" b="0">
                <a:solidFill>
                  <a:srgbClr val="000000"/>
                </a:solidFill>
              </a:rPr>
              <a:t>• Measure the overall churn rate and customer status.</a:t>
            </a:r>
          </a:p>
          <a:p>
            <a:pPr algn="l">
              <a:defRPr sz="1800" b="0">
                <a:solidFill>
                  <a:srgbClr val="000000"/>
                </a:solidFill>
              </a:defRPr>
            </a:pPr>
            <a:r>
              <a:rPr sz="1800" b="0">
                <a:solidFill>
                  <a:srgbClr val="000000"/>
                </a:solidFill>
              </a:rPr>
              <a:t>• Compare churn across internet type, contract, tenure, charges, age and data usage.</a:t>
            </a:r>
          </a:p>
          <a:p>
            <a:pPr algn="l">
              <a:defRPr sz="1800" b="0">
                <a:solidFill>
                  <a:srgbClr val="000000"/>
                </a:solidFill>
              </a:defRPr>
            </a:pPr>
            <a:r>
              <a:rPr sz="1800" b="0">
                <a:solidFill>
                  <a:srgbClr val="000000"/>
                </a:solidFill>
              </a:rPr>
              <a:t>• Identify the largest churn reasons and revenue at risk.</a:t>
            </a:r>
          </a:p>
          <a:p>
            <a:pPr algn="l">
              <a:defRPr sz="1800" b="0">
                <a:solidFill>
                  <a:srgbClr val="000000"/>
                </a:solidFill>
              </a:defRPr>
            </a:pPr>
            <a:r>
              <a:rPr sz="1800" b="0">
                <a:solidFill>
                  <a:srgbClr val="000000"/>
                </a:solidFill>
              </a:rPr>
              <a:t>• Translate the findings into practical retention actions.</a:t>
            </a:r>
          </a:p>
        </p:txBody>
      </p:sp>
    </p:spTree>
    <p:extLst>
      <p:ext uri="{BB962C8B-B14F-4D97-AF65-F5344CB8AC3E}">
        <p14:creationId xmlns:p14="http://schemas.microsoft.com/office/powerpoint/2010/main" val="1873091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B987045-3D07-479C-AE35-25B06A0CABD5}"/>
              </a:ext>
            </a:extLst>
          </p:cNvPr>
          <p:cNvSpPr>
            <a:spLocks noGrp="1"/>
          </p:cNvSpPr>
          <p:nvPr/>
        </p:nvSpPr>
        <p:spPr>
          <a:xfrm>
            <a:off x="0" y="0"/>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60025FD7-26A9-46FD-9665-7CA04119EF9B}"/>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9AAD1A6F-BACE-4E52-9E1A-BE868B69EC77}"/>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DATA CLEANING AND PREPARATION</a:t>
            </a:r>
          </a:p>
        </p:txBody>
      </p:sp>
      <p:sp>
        <p:nvSpPr>
          <p:cNvPr id="4" name="Rectangle 3">
            <a:extLst>
              <a:ext uri="{FF2B5EF4-FFF2-40B4-BE49-F238E27FC236}">
                <a16:creationId xmlns:a16="http://schemas.microsoft.com/office/drawing/2014/main" id="{5E0F3750-C20A-4063-A4FD-EAC2112B2C81}"/>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sz="1950" b="1">
                <a:solidFill>
                  <a:srgbClr val="000000"/>
                </a:solidFill>
              </a:rPr>
              <a:t>The data was checked, classified and validated before analysis</a:t>
            </a:r>
          </a:p>
        </p:txBody>
      </p:sp>
      <p:sp>
        <p:nvSpPr>
          <p:cNvPr id="5" name="Rectangle: Rounded Corners 4">
            <a:extLst>
              <a:ext uri="{FF2B5EF4-FFF2-40B4-BE49-F238E27FC236}">
                <a16:creationId xmlns:a16="http://schemas.microsoft.com/office/drawing/2014/main" id="{AC92451D-FF3E-422F-8089-2A45A597ADE8}"/>
              </a:ext>
            </a:extLst>
          </p:cNvPr>
          <p:cNvSpPr>
            <a:spLocks noGrp="1"/>
          </p:cNvSpPr>
          <p:nvPr/>
        </p:nvSpPr>
        <p:spPr>
          <a:xfrm>
            <a:off x="523875" y="1619250"/>
            <a:ext cx="11144250" cy="838200"/>
          </a:xfrm>
          <a:prstGeom prst="roundRect">
            <a:avLst>
              <a:gd name="adj" fmla="val 13636"/>
            </a:avLst>
          </a:prstGeom>
          <a:solidFill>
            <a:schemeClr val="bg1"/>
          </a:solidFill>
          <a:ln w="19050">
            <a:solidFill>
              <a:srgbClr val="EAF7FD"/>
            </a:solidFill>
            <a:prstDash val="solid"/>
          </a:ln>
        </p:spPr>
      </p:sp>
      <p:sp>
        <p:nvSpPr>
          <p:cNvPr id="6" name="Rectangle 5">
            <a:extLst>
              <a:ext uri="{FF2B5EF4-FFF2-40B4-BE49-F238E27FC236}">
                <a16:creationId xmlns:a16="http://schemas.microsoft.com/office/drawing/2014/main" id="{A034C615-1349-4A08-B48E-2821216D86BA}"/>
              </a:ext>
            </a:extLst>
          </p:cNvPr>
          <p:cNvSpPr>
            <a:spLocks noGrp="1"/>
          </p:cNvSpPr>
          <p:nvPr/>
        </p:nvSpPr>
        <p:spPr>
          <a:xfrm>
            <a:off x="742950" y="1809750"/>
            <a:ext cx="523875" cy="361950"/>
          </a:xfrm>
          <a:prstGeom prst="rect">
            <a:avLst/>
          </a:prstGeom>
          <a:noFill/>
          <a:ln w="0">
            <a:noFill/>
            <a:prstDash val="solid"/>
          </a:ln>
        </p:spPr>
        <p:txBody>
          <a:bodyPr/>
          <a:lstStyle/>
          <a:p>
            <a:pPr algn="l">
              <a:defRPr sz="1950" b="1">
                <a:solidFill>
                  <a:srgbClr val="8FD3F4"/>
                </a:solidFill>
              </a:defRPr>
            </a:pPr>
            <a:r>
              <a:rPr sz="1950" b="1" dirty="0">
                <a:solidFill>
                  <a:srgbClr val="8FD3F4"/>
                </a:solidFill>
              </a:rPr>
              <a:t>01</a:t>
            </a:r>
          </a:p>
        </p:txBody>
      </p:sp>
      <p:sp>
        <p:nvSpPr>
          <p:cNvPr id="7" name="Rectangle 6">
            <a:extLst>
              <a:ext uri="{FF2B5EF4-FFF2-40B4-BE49-F238E27FC236}">
                <a16:creationId xmlns:a16="http://schemas.microsoft.com/office/drawing/2014/main" id="{A8086C5A-2567-41B9-BE24-B288072C00C1}"/>
              </a:ext>
            </a:extLst>
          </p:cNvPr>
          <p:cNvSpPr>
            <a:spLocks noGrp="1"/>
          </p:cNvSpPr>
          <p:nvPr/>
        </p:nvSpPr>
        <p:spPr>
          <a:xfrm>
            <a:off x="1381125" y="1743075"/>
            <a:ext cx="3333750" cy="552450"/>
          </a:xfrm>
          <a:prstGeom prst="rect">
            <a:avLst/>
          </a:prstGeom>
          <a:noFill/>
          <a:ln w="0">
            <a:noFill/>
            <a:prstDash val="solid"/>
          </a:ln>
        </p:spPr>
        <p:txBody>
          <a:bodyPr/>
          <a:lstStyle/>
          <a:p>
            <a:pPr algn="l">
              <a:defRPr sz="1800" b="1">
                <a:solidFill>
                  <a:srgbClr val="2F80B7"/>
                </a:solidFill>
              </a:defRPr>
            </a:pPr>
            <a:r>
              <a:rPr sz="1800" b="1" dirty="0">
                <a:solidFill>
                  <a:srgbClr val="2F80B7"/>
                </a:solidFill>
              </a:rPr>
              <a:t>Customer records checked</a:t>
            </a:r>
          </a:p>
        </p:txBody>
      </p:sp>
      <p:sp>
        <p:nvSpPr>
          <p:cNvPr id="8" name="Rectangle 7">
            <a:extLst>
              <a:ext uri="{FF2B5EF4-FFF2-40B4-BE49-F238E27FC236}">
                <a16:creationId xmlns:a16="http://schemas.microsoft.com/office/drawing/2014/main" id="{375C16EC-D968-4CB9-8032-F522D9D6CB0C}"/>
              </a:ext>
            </a:extLst>
          </p:cNvPr>
          <p:cNvSpPr>
            <a:spLocks noGrp="1"/>
          </p:cNvSpPr>
          <p:nvPr/>
        </p:nvSpPr>
        <p:spPr>
          <a:xfrm>
            <a:off x="4953000" y="174307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Validated 7,043 unique customer IDs and confirmed that no duplicated customer rows remained.</a:t>
            </a:r>
          </a:p>
        </p:txBody>
      </p:sp>
      <p:sp>
        <p:nvSpPr>
          <p:cNvPr id="9" name="Rectangle 8">
            <a:extLst>
              <a:ext uri="{FF2B5EF4-FFF2-40B4-BE49-F238E27FC236}">
                <a16:creationId xmlns:a16="http://schemas.microsoft.com/office/drawing/2014/main" id="{AF468E3C-C125-446B-9D8E-386761817B3B}"/>
              </a:ext>
            </a:extLst>
          </p:cNvPr>
          <p:cNvSpPr>
            <a:spLocks noGrp="1"/>
          </p:cNvSpPr>
          <p:nvPr/>
        </p:nvSpPr>
        <p:spPr>
          <a:xfrm>
            <a:off x="742950" y="274320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02</a:t>
            </a:r>
          </a:p>
        </p:txBody>
      </p:sp>
      <p:sp>
        <p:nvSpPr>
          <p:cNvPr id="10" name="Rectangle 9">
            <a:extLst>
              <a:ext uri="{FF2B5EF4-FFF2-40B4-BE49-F238E27FC236}">
                <a16:creationId xmlns:a16="http://schemas.microsoft.com/office/drawing/2014/main" id="{F80290DF-999A-4F27-8453-BC33E981855D}"/>
              </a:ext>
            </a:extLst>
          </p:cNvPr>
          <p:cNvSpPr>
            <a:spLocks noGrp="1"/>
          </p:cNvSpPr>
          <p:nvPr/>
        </p:nvSpPr>
        <p:spPr>
          <a:xfrm>
            <a:off x="1381125" y="267652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N/A values reviewed</a:t>
            </a:r>
          </a:p>
        </p:txBody>
      </p:sp>
      <p:sp>
        <p:nvSpPr>
          <p:cNvPr id="11" name="Rectangle 10">
            <a:extLst>
              <a:ext uri="{FF2B5EF4-FFF2-40B4-BE49-F238E27FC236}">
                <a16:creationId xmlns:a16="http://schemas.microsoft.com/office/drawing/2014/main" id="{2B5F9BDE-B69B-4D8A-84CB-0D06AEB175AF}"/>
              </a:ext>
            </a:extLst>
          </p:cNvPr>
          <p:cNvSpPr>
            <a:spLocks noGrp="1"/>
          </p:cNvSpPr>
          <p:nvPr/>
        </p:nvSpPr>
        <p:spPr>
          <a:xfrm>
            <a:off x="4953000" y="267652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Interpreted N/A by context: no service, no offer or no churn reason—not automatically missing information.</a:t>
            </a:r>
          </a:p>
        </p:txBody>
      </p:sp>
      <p:sp>
        <p:nvSpPr>
          <p:cNvPr id="12" name="Rectangle: Rounded Corners 11">
            <a:extLst>
              <a:ext uri="{FF2B5EF4-FFF2-40B4-BE49-F238E27FC236}">
                <a16:creationId xmlns:a16="http://schemas.microsoft.com/office/drawing/2014/main" id="{239E8E2F-D025-4C64-A196-D6803E13B23B}"/>
              </a:ext>
            </a:extLst>
          </p:cNvPr>
          <p:cNvSpPr>
            <a:spLocks noGrp="1"/>
          </p:cNvSpPr>
          <p:nvPr/>
        </p:nvSpPr>
        <p:spPr>
          <a:xfrm>
            <a:off x="523875" y="3486150"/>
            <a:ext cx="11144250" cy="838200"/>
          </a:xfrm>
          <a:prstGeom prst="roundRect">
            <a:avLst>
              <a:gd name="adj" fmla="val 13636"/>
            </a:avLst>
          </a:prstGeom>
          <a:solidFill>
            <a:schemeClr val="bg1"/>
          </a:solidFill>
          <a:ln w="19050">
            <a:solidFill>
              <a:srgbClr val="EAF7FD"/>
            </a:solidFill>
            <a:prstDash val="solid"/>
          </a:ln>
        </p:spPr>
      </p:sp>
      <p:sp>
        <p:nvSpPr>
          <p:cNvPr id="13" name="Rectangle 12">
            <a:extLst>
              <a:ext uri="{FF2B5EF4-FFF2-40B4-BE49-F238E27FC236}">
                <a16:creationId xmlns:a16="http://schemas.microsoft.com/office/drawing/2014/main" id="{2B32A5C4-E4B2-4F1A-A322-428360EC3864}"/>
              </a:ext>
            </a:extLst>
          </p:cNvPr>
          <p:cNvSpPr>
            <a:spLocks noGrp="1"/>
          </p:cNvSpPr>
          <p:nvPr/>
        </p:nvSpPr>
        <p:spPr>
          <a:xfrm>
            <a:off x="742950" y="367665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03</a:t>
            </a:r>
          </a:p>
        </p:txBody>
      </p:sp>
      <p:sp>
        <p:nvSpPr>
          <p:cNvPr id="14" name="Rectangle 13">
            <a:extLst>
              <a:ext uri="{FF2B5EF4-FFF2-40B4-BE49-F238E27FC236}">
                <a16:creationId xmlns:a16="http://schemas.microsoft.com/office/drawing/2014/main" id="{23B7D292-1CB1-47CB-BC0F-B4EC799ECD87}"/>
              </a:ext>
            </a:extLst>
          </p:cNvPr>
          <p:cNvSpPr>
            <a:spLocks noGrp="1"/>
          </p:cNvSpPr>
          <p:nvPr/>
        </p:nvSpPr>
        <p:spPr>
          <a:xfrm>
            <a:off x="1381125" y="360997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Analysis bands created</a:t>
            </a:r>
          </a:p>
        </p:txBody>
      </p:sp>
      <p:sp>
        <p:nvSpPr>
          <p:cNvPr id="15" name="Rectangle 14">
            <a:extLst>
              <a:ext uri="{FF2B5EF4-FFF2-40B4-BE49-F238E27FC236}">
                <a16:creationId xmlns:a16="http://schemas.microsoft.com/office/drawing/2014/main" id="{02DE003B-59D9-4BFE-92B9-DA7F30434031}"/>
              </a:ext>
            </a:extLst>
          </p:cNvPr>
          <p:cNvSpPr>
            <a:spLocks noGrp="1"/>
          </p:cNvSpPr>
          <p:nvPr/>
        </p:nvSpPr>
        <p:spPr>
          <a:xfrm>
            <a:off x="4953000" y="360997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Grouped age, tenure, monthly charge, data usage and population into consistent analytical categories.</a:t>
            </a:r>
          </a:p>
        </p:txBody>
      </p:sp>
      <p:sp>
        <p:nvSpPr>
          <p:cNvPr id="16" name="Rectangle 15">
            <a:extLst>
              <a:ext uri="{FF2B5EF4-FFF2-40B4-BE49-F238E27FC236}">
                <a16:creationId xmlns:a16="http://schemas.microsoft.com/office/drawing/2014/main" id="{9D361DF6-F63B-4DC6-928D-8F4DF956755E}"/>
              </a:ext>
            </a:extLst>
          </p:cNvPr>
          <p:cNvSpPr>
            <a:spLocks noGrp="1"/>
          </p:cNvSpPr>
          <p:nvPr/>
        </p:nvSpPr>
        <p:spPr>
          <a:xfrm>
            <a:off x="742950" y="461010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04</a:t>
            </a:r>
          </a:p>
        </p:txBody>
      </p:sp>
      <p:sp>
        <p:nvSpPr>
          <p:cNvPr id="17" name="Rectangle 16">
            <a:extLst>
              <a:ext uri="{FF2B5EF4-FFF2-40B4-BE49-F238E27FC236}">
                <a16:creationId xmlns:a16="http://schemas.microsoft.com/office/drawing/2014/main" id="{DC99C3E7-7C75-4299-88AA-5CA7E3F800F5}"/>
              </a:ext>
            </a:extLst>
          </p:cNvPr>
          <p:cNvSpPr>
            <a:spLocks noGrp="1"/>
          </p:cNvSpPr>
          <p:nvPr/>
        </p:nvSpPr>
        <p:spPr>
          <a:xfrm>
            <a:off x="1381125" y="454342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Churn measures calculated</a:t>
            </a:r>
          </a:p>
        </p:txBody>
      </p:sp>
      <p:sp>
        <p:nvSpPr>
          <p:cNvPr id="18" name="Rectangle 17">
            <a:extLst>
              <a:ext uri="{FF2B5EF4-FFF2-40B4-BE49-F238E27FC236}">
                <a16:creationId xmlns:a16="http://schemas.microsoft.com/office/drawing/2014/main" id="{41278204-B1D6-443C-82EA-35DF28DE2531}"/>
              </a:ext>
            </a:extLst>
          </p:cNvPr>
          <p:cNvSpPr>
            <a:spLocks noGrp="1"/>
          </p:cNvSpPr>
          <p:nvPr/>
        </p:nvSpPr>
        <p:spPr>
          <a:xfrm>
            <a:off x="4953000" y="454342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Created a churn indicator and calculated 1,869 churned customers from the full customer base.</a:t>
            </a:r>
          </a:p>
        </p:txBody>
      </p:sp>
      <p:sp>
        <p:nvSpPr>
          <p:cNvPr id="19" name="Rectangle: Rounded Corners 18">
            <a:extLst>
              <a:ext uri="{FF2B5EF4-FFF2-40B4-BE49-F238E27FC236}">
                <a16:creationId xmlns:a16="http://schemas.microsoft.com/office/drawing/2014/main" id="{8620C0AF-7985-4DCE-84DE-95723E8C2DDD}"/>
              </a:ext>
            </a:extLst>
          </p:cNvPr>
          <p:cNvSpPr>
            <a:spLocks noGrp="1"/>
          </p:cNvSpPr>
          <p:nvPr/>
        </p:nvSpPr>
        <p:spPr>
          <a:xfrm>
            <a:off x="523875" y="5353050"/>
            <a:ext cx="11144250" cy="838200"/>
          </a:xfrm>
          <a:prstGeom prst="roundRect">
            <a:avLst>
              <a:gd name="adj" fmla="val 13636"/>
            </a:avLst>
          </a:prstGeom>
          <a:solidFill>
            <a:schemeClr val="bg1"/>
          </a:solidFill>
          <a:ln w="19050">
            <a:solidFill>
              <a:srgbClr val="EAF7FD"/>
            </a:solidFill>
            <a:prstDash val="solid"/>
          </a:ln>
        </p:spPr>
      </p:sp>
      <p:sp>
        <p:nvSpPr>
          <p:cNvPr id="20" name="Rectangle 19">
            <a:extLst>
              <a:ext uri="{FF2B5EF4-FFF2-40B4-BE49-F238E27FC236}">
                <a16:creationId xmlns:a16="http://schemas.microsoft.com/office/drawing/2014/main" id="{361BDD75-C2D5-47E7-B8B4-FECDF08442E0}"/>
              </a:ext>
            </a:extLst>
          </p:cNvPr>
          <p:cNvSpPr>
            <a:spLocks noGrp="1"/>
          </p:cNvSpPr>
          <p:nvPr/>
        </p:nvSpPr>
        <p:spPr>
          <a:xfrm>
            <a:off x="742950" y="554355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05</a:t>
            </a:r>
          </a:p>
        </p:txBody>
      </p:sp>
      <p:sp>
        <p:nvSpPr>
          <p:cNvPr id="21" name="Rectangle 20">
            <a:extLst>
              <a:ext uri="{FF2B5EF4-FFF2-40B4-BE49-F238E27FC236}">
                <a16:creationId xmlns:a16="http://schemas.microsoft.com/office/drawing/2014/main" id="{C7408B76-18BF-4A08-AC3A-21172F3860EB}"/>
              </a:ext>
            </a:extLst>
          </p:cNvPr>
          <p:cNvSpPr>
            <a:spLocks noGrp="1"/>
          </p:cNvSpPr>
          <p:nvPr/>
        </p:nvSpPr>
        <p:spPr>
          <a:xfrm>
            <a:off x="1381125" y="547687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Results validated</a:t>
            </a:r>
          </a:p>
        </p:txBody>
      </p:sp>
      <p:sp>
        <p:nvSpPr>
          <p:cNvPr id="22" name="Rectangle 21">
            <a:extLst>
              <a:ext uri="{FF2B5EF4-FFF2-40B4-BE49-F238E27FC236}">
                <a16:creationId xmlns:a16="http://schemas.microsoft.com/office/drawing/2014/main" id="{093FE032-2D19-46B9-BA2D-DC8AEDC42BB0}"/>
              </a:ext>
            </a:extLst>
          </p:cNvPr>
          <p:cNvSpPr>
            <a:spLocks noGrp="1"/>
          </p:cNvSpPr>
          <p:nvPr/>
        </p:nvSpPr>
        <p:spPr>
          <a:xfrm>
            <a:off x="4953000" y="547687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Reconciled the totals and confirmed the churn rate: 1,869 ÷ 7,043 = 26.54%. Churn reasons excluded non-churners.</a:t>
            </a:r>
          </a:p>
        </p:txBody>
      </p:sp>
    </p:spTree>
    <p:extLst>
      <p:ext uri="{BB962C8B-B14F-4D97-AF65-F5344CB8AC3E}">
        <p14:creationId xmlns:p14="http://schemas.microsoft.com/office/powerpoint/2010/main" val="1957514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3E7EAF9F-85C0-4497-A34E-29DFBD88EAB7}"/>
              </a:ext>
            </a:extLst>
          </p:cNvPr>
          <p:cNvSpPr>
            <a:spLocks noGrp="1"/>
          </p:cNvSpPr>
          <p:nvPr/>
        </p:nvSpPr>
        <p:spPr>
          <a:xfrm>
            <a:off x="0" y="0"/>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9FC14D78-53D4-4FB3-BC4B-CDB126D87DA6}"/>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1D6ECC84-9054-4838-8176-EDB0907B424C}"/>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TELECOM CUSTOMER CHURN ANALYSIS</a:t>
            </a:r>
          </a:p>
        </p:txBody>
      </p:sp>
      <p:sp>
        <p:nvSpPr>
          <p:cNvPr id="4" name="Rectangle 3">
            <a:extLst>
              <a:ext uri="{FF2B5EF4-FFF2-40B4-BE49-F238E27FC236}">
                <a16:creationId xmlns:a16="http://schemas.microsoft.com/office/drawing/2014/main" id="{04C1C536-3ED4-4F45-B43E-FA59755A9AB1}"/>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sz="1950" b="1">
                <a:solidFill>
                  <a:srgbClr val="000000"/>
                </a:solidFill>
              </a:rPr>
              <a:t>The company retained most customers, but more than one quarter had churned</a:t>
            </a:r>
          </a:p>
        </p:txBody>
      </p:sp>
      <p:sp>
        <p:nvSpPr>
          <p:cNvPr id="5" name="Rectangle: Rounded Corners 4">
            <a:extLst>
              <a:ext uri="{FF2B5EF4-FFF2-40B4-BE49-F238E27FC236}">
                <a16:creationId xmlns:a16="http://schemas.microsoft.com/office/drawing/2014/main" id="{038B845F-B2FF-4689-9987-E7A603168224}"/>
              </a:ext>
            </a:extLst>
          </p:cNvPr>
          <p:cNvSpPr>
            <a:spLocks noGrp="1"/>
          </p:cNvSpPr>
          <p:nvPr/>
        </p:nvSpPr>
        <p:spPr>
          <a:xfrm>
            <a:off x="457200" y="1809750"/>
            <a:ext cx="2047875" cy="1571625"/>
          </a:xfrm>
          <a:prstGeom prst="roundRect">
            <a:avLst>
              <a:gd name="adj" fmla="val 7273"/>
            </a:avLst>
          </a:prstGeom>
          <a:solidFill>
            <a:srgbClr val="FFFFFF"/>
          </a:solidFill>
          <a:ln w="19050">
            <a:solidFill>
              <a:srgbClr val="2F80B7"/>
            </a:solidFill>
            <a:prstDash val="solid"/>
          </a:ln>
        </p:spPr>
      </p:sp>
      <p:sp>
        <p:nvSpPr>
          <p:cNvPr id="6" name="Rectangle 5">
            <a:extLst>
              <a:ext uri="{FF2B5EF4-FFF2-40B4-BE49-F238E27FC236}">
                <a16:creationId xmlns:a16="http://schemas.microsoft.com/office/drawing/2014/main" id="{77E0DB70-B2BD-4E38-A2B6-09CF633E15CB}"/>
              </a:ext>
            </a:extLst>
          </p:cNvPr>
          <p:cNvSpPr>
            <a:spLocks noGrp="1"/>
          </p:cNvSpPr>
          <p:nvPr/>
        </p:nvSpPr>
        <p:spPr>
          <a:xfrm>
            <a:off x="457200" y="1809750"/>
            <a:ext cx="2047875" cy="95250"/>
          </a:xfrm>
          <a:prstGeom prst="rect">
            <a:avLst/>
          </a:prstGeom>
          <a:solidFill>
            <a:srgbClr val="2F80B7"/>
          </a:solidFill>
          <a:ln w="0">
            <a:solidFill>
              <a:srgbClr val="2F80B7"/>
            </a:solidFill>
            <a:prstDash val="solid"/>
          </a:ln>
        </p:spPr>
      </p:sp>
      <p:sp>
        <p:nvSpPr>
          <p:cNvPr id="7" name="Rectangle 6">
            <a:extLst>
              <a:ext uri="{FF2B5EF4-FFF2-40B4-BE49-F238E27FC236}">
                <a16:creationId xmlns:a16="http://schemas.microsoft.com/office/drawing/2014/main" id="{DF403B7D-0AA1-4C79-B311-6BD862FB8377}"/>
              </a:ext>
            </a:extLst>
          </p:cNvPr>
          <p:cNvSpPr>
            <a:spLocks noGrp="1"/>
          </p:cNvSpPr>
          <p:nvPr/>
        </p:nvSpPr>
        <p:spPr>
          <a:xfrm>
            <a:off x="571500" y="2190750"/>
            <a:ext cx="1819275" cy="457200"/>
          </a:xfrm>
          <a:prstGeom prst="rect">
            <a:avLst/>
          </a:prstGeom>
          <a:noFill/>
          <a:ln w="0">
            <a:noFill/>
            <a:prstDash val="solid"/>
          </a:ln>
        </p:spPr>
        <p:txBody>
          <a:bodyPr/>
          <a:lstStyle/>
          <a:p>
            <a:pPr algn="ctr">
              <a:defRPr sz="1950" b="1">
                <a:solidFill>
                  <a:srgbClr val="2F80B7"/>
                </a:solidFill>
              </a:defRPr>
            </a:pPr>
            <a:r>
              <a:rPr sz="1950" b="1">
                <a:solidFill>
                  <a:srgbClr val="2F80B7"/>
                </a:solidFill>
              </a:rPr>
              <a:t>7,043</a:t>
            </a:r>
          </a:p>
        </p:txBody>
      </p:sp>
      <p:sp>
        <p:nvSpPr>
          <p:cNvPr id="8" name="Rectangle 7">
            <a:extLst>
              <a:ext uri="{FF2B5EF4-FFF2-40B4-BE49-F238E27FC236}">
                <a16:creationId xmlns:a16="http://schemas.microsoft.com/office/drawing/2014/main" id="{06FF8131-E8D0-46E7-BAC7-CAD1E0391E69}"/>
              </a:ext>
            </a:extLst>
          </p:cNvPr>
          <p:cNvSpPr>
            <a:spLocks noGrp="1"/>
          </p:cNvSpPr>
          <p:nvPr/>
        </p:nvSpPr>
        <p:spPr>
          <a:xfrm>
            <a:off x="571500" y="2781300"/>
            <a:ext cx="1819275" cy="381000"/>
          </a:xfrm>
          <a:prstGeom prst="rect">
            <a:avLst/>
          </a:prstGeom>
          <a:noFill/>
          <a:ln w="0">
            <a:noFill/>
            <a:prstDash val="solid"/>
          </a:ln>
        </p:spPr>
        <p:txBody>
          <a:bodyPr/>
          <a:lstStyle/>
          <a:p>
            <a:pPr algn="ctr">
              <a:defRPr sz="1800" b="1">
                <a:solidFill>
                  <a:srgbClr val="000000"/>
                </a:solidFill>
              </a:defRPr>
            </a:pPr>
            <a:r>
              <a:rPr sz="1800" b="1">
                <a:solidFill>
                  <a:srgbClr val="000000"/>
                </a:solidFill>
              </a:rPr>
              <a:t>Customers</a:t>
            </a:r>
          </a:p>
        </p:txBody>
      </p:sp>
      <p:sp>
        <p:nvSpPr>
          <p:cNvPr id="9" name="Rectangle: Rounded Corners 8">
            <a:extLst>
              <a:ext uri="{FF2B5EF4-FFF2-40B4-BE49-F238E27FC236}">
                <a16:creationId xmlns:a16="http://schemas.microsoft.com/office/drawing/2014/main" id="{D2F0F28E-A68B-46DB-9A21-F0CDC621D77D}"/>
              </a:ext>
            </a:extLst>
          </p:cNvPr>
          <p:cNvSpPr>
            <a:spLocks noGrp="1"/>
          </p:cNvSpPr>
          <p:nvPr/>
        </p:nvSpPr>
        <p:spPr>
          <a:xfrm>
            <a:off x="2733675" y="1809750"/>
            <a:ext cx="2047875" cy="1571625"/>
          </a:xfrm>
          <a:prstGeom prst="roundRect">
            <a:avLst>
              <a:gd name="adj" fmla="val 7273"/>
            </a:avLst>
          </a:prstGeom>
          <a:solidFill>
            <a:schemeClr val="bg1"/>
          </a:solidFill>
          <a:ln w="19050">
            <a:solidFill>
              <a:srgbClr val="2F80B7"/>
            </a:solidFill>
            <a:prstDash val="solid"/>
          </a:ln>
        </p:spPr>
      </p:sp>
      <p:sp>
        <p:nvSpPr>
          <p:cNvPr id="10" name="Rectangle 9">
            <a:extLst>
              <a:ext uri="{FF2B5EF4-FFF2-40B4-BE49-F238E27FC236}">
                <a16:creationId xmlns:a16="http://schemas.microsoft.com/office/drawing/2014/main" id="{C7E36695-C21F-4839-BB52-F7700FC5805A}"/>
              </a:ext>
            </a:extLst>
          </p:cNvPr>
          <p:cNvSpPr>
            <a:spLocks noGrp="1"/>
          </p:cNvSpPr>
          <p:nvPr/>
        </p:nvSpPr>
        <p:spPr>
          <a:xfrm>
            <a:off x="2733675" y="1809750"/>
            <a:ext cx="2047875" cy="95250"/>
          </a:xfrm>
          <a:prstGeom prst="rect">
            <a:avLst/>
          </a:prstGeom>
          <a:solidFill>
            <a:srgbClr val="8FD3F4"/>
          </a:solidFill>
          <a:ln w="0">
            <a:solidFill>
              <a:srgbClr val="8FD3F4"/>
            </a:solidFill>
            <a:prstDash val="solid"/>
          </a:ln>
        </p:spPr>
      </p:sp>
      <p:sp>
        <p:nvSpPr>
          <p:cNvPr id="11" name="Rectangle 10">
            <a:extLst>
              <a:ext uri="{FF2B5EF4-FFF2-40B4-BE49-F238E27FC236}">
                <a16:creationId xmlns:a16="http://schemas.microsoft.com/office/drawing/2014/main" id="{D9984268-22B0-4808-9B78-6459F3B4D3D9}"/>
              </a:ext>
            </a:extLst>
          </p:cNvPr>
          <p:cNvSpPr>
            <a:spLocks noGrp="1"/>
          </p:cNvSpPr>
          <p:nvPr/>
        </p:nvSpPr>
        <p:spPr>
          <a:xfrm>
            <a:off x="2847975" y="2190750"/>
            <a:ext cx="1819275" cy="457200"/>
          </a:xfrm>
          <a:prstGeom prst="rect">
            <a:avLst/>
          </a:prstGeom>
          <a:noFill/>
          <a:ln w="0">
            <a:noFill/>
            <a:prstDash val="solid"/>
          </a:ln>
        </p:spPr>
        <p:txBody>
          <a:bodyPr/>
          <a:lstStyle/>
          <a:p>
            <a:pPr algn="ctr">
              <a:defRPr sz="1950" b="1">
                <a:solidFill>
                  <a:srgbClr val="2F80B7"/>
                </a:solidFill>
              </a:defRPr>
            </a:pPr>
            <a:r>
              <a:rPr sz="1950" b="1">
                <a:solidFill>
                  <a:srgbClr val="2F80B7"/>
                </a:solidFill>
              </a:rPr>
              <a:t>₦21.37m</a:t>
            </a:r>
          </a:p>
        </p:txBody>
      </p:sp>
      <p:sp>
        <p:nvSpPr>
          <p:cNvPr id="12" name="Rectangle 11">
            <a:extLst>
              <a:ext uri="{FF2B5EF4-FFF2-40B4-BE49-F238E27FC236}">
                <a16:creationId xmlns:a16="http://schemas.microsoft.com/office/drawing/2014/main" id="{202D50B4-FB65-4A36-AB9D-6BAB6627DD1C}"/>
              </a:ext>
            </a:extLst>
          </p:cNvPr>
          <p:cNvSpPr>
            <a:spLocks noGrp="1"/>
          </p:cNvSpPr>
          <p:nvPr/>
        </p:nvSpPr>
        <p:spPr>
          <a:xfrm>
            <a:off x="2847975" y="2781300"/>
            <a:ext cx="1819275" cy="381000"/>
          </a:xfrm>
          <a:prstGeom prst="rect">
            <a:avLst/>
          </a:prstGeom>
          <a:noFill/>
          <a:ln w="0">
            <a:noFill/>
            <a:prstDash val="solid"/>
          </a:ln>
        </p:spPr>
        <p:txBody>
          <a:bodyPr/>
          <a:lstStyle/>
          <a:p>
            <a:pPr algn="ctr">
              <a:defRPr sz="1800" b="1">
                <a:solidFill>
                  <a:srgbClr val="000000"/>
                </a:solidFill>
              </a:defRPr>
            </a:pPr>
            <a:r>
              <a:rPr sz="1800" b="1">
                <a:solidFill>
                  <a:srgbClr val="000000"/>
                </a:solidFill>
              </a:rPr>
              <a:t>Total revenue</a:t>
            </a:r>
          </a:p>
        </p:txBody>
      </p:sp>
      <p:sp>
        <p:nvSpPr>
          <p:cNvPr id="13" name="Rectangle: Rounded Corners 12">
            <a:extLst>
              <a:ext uri="{FF2B5EF4-FFF2-40B4-BE49-F238E27FC236}">
                <a16:creationId xmlns:a16="http://schemas.microsoft.com/office/drawing/2014/main" id="{72E64761-242A-4681-9F6E-C92F6354740B}"/>
              </a:ext>
            </a:extLst>
          </p:cNvPr>
          <p:cNvSpPr>
            <a:spLocks noGrp="1"/>
          </p:cNvSpPr>
          <p:nvPr/>
        </p:nvSpPr>
        <p:spPr>
          <a:xfrm>
            <a:off x="5010150" y="1809750"/>
            <a:ext cx="2047875" cy="1571625"/>
          </a:xfrm>
          <a:prstGeom prst="roundRect">
            <a:avLst>
              <a:gd name="adj" fmla="val 7273"/>
            </a:avLst>
          </a:prstGeom>
          <a:solidFill>
            <a:srgbClr val="FFFFFF"/>
          </a:solidFill>
          <a:ln w="19050">
            <a:solidFill>
              <a:srgbClr val="2F80B7"/>
            </a:solidFill>
            <a:prstDash val="solid"/>
          </a:ln>
        </p:spPr>
      </p:sp>
      <p:sp>
        <p:nvSpPr>
          <p:cNvPr id="14" name="Rectangle 13">
            <a:extLst>
              <a:ext uri="{FF2B5EF4-FFF2-40B4-BE49-F238E27FC236}">
                <a16:creationId xmlns:a16="http://schemas.microsoft.com/office/drawing/2014/main" id="{BCC28A1B-2FC0-4D47-8AEB-7262A1EAC953}"/>
              </a:ext>
            </a:extLst>
          </p:cNvPr>
          <p:cNvSpPr>
            <a:spLocks noGrp="1"/>
          </p:cNvSpPr>
          <p:nvPr/>
        </p:nvSpPr>
        <p:spPr>
          <a:xfrm>
            <a:off x="5010150" y="1809750"/>
            <a:ext cx="2047875" cy="95250"/>
          </a:xfrm>
          <a:prstGeom prst="rect">
            <a:avLst/>
          </a:prstGeom>
          <a:solidFill>
            <a:srgbClr val="2F80B7"/>
          </a:solidFill>
          <a:ln w="0">
            <a:solidFill>
              <a:srgbClr val="2F80B7"/>
            </a:solidFill>
            <a:prstDash val="solid"/>
          </a:ln>
        </p:spPr>
      </p:sp>
      <p:sp>
        <p:nvSpPr>
          <p:cNvPr id="15" name="Rectangle 14">
            <a:extLst>
              <a:ext uri="{FF2B5EF4-FFF2-40B4-BE49-F238E27FC236}">
                <a16:creationId xmlns:a16="http://schemas.microsoft.com/office/drawing/2014/main" id="{6147247B-E802-48CD-BA70-051498CB92A2}"/>
              </a:ext>
            </a:extLst>
          </p:cNvPr>
          <p:cNvSpPr>
            <a:spLocks noGrp="1"/>
          </p:cNvSpPr>
          <p:nvPr/>
        </p:nvSpPr>
        <p:spPr>
          <a:xfrm>
            <a:off x="5124450" y="2190750"/>
            <a:ext cx="1819275" cy="457200"/>
          </a:xfrm>
          <a:prstGeom prst="rect">
            <a:avLst/>
          </a:prstGeom>
          <a:noFill/>
          <a:ln w="0">
            <a:noFill/>
            <a:prstDash val="solid"/>
          </a:ln>
        </p:spPr>
        <p:txBody>
          <a:bodyPr/>
          <a:lstStyle/>
          <a:p>
            <a:pPr algn="ctr">
              <a:defRPr sz="1950" b="1">
                <a:solidFill>
                  <a:srgbClr val="2F80B7"/>
                </a:solidFill>
              </a:defRPr>
            </a:pPr>
            <a:r>
              <a:rPr sz="1950" b="1">
                <a:solidFill>
                  <a:srgbClr val="2F80B7"/>
                </a:solidFill>
              </a:rPr>
              <a:t>₦63.60</a:t>
            </a:r>
          </a:p>
        </p:txBody>
      </p:sp>
      <p:sp>
        <p:nvSpPr>
          <p:cNvPr id="16" name="Rectangle 15">
            <a:extLst>
              <a:ext uri="{FF2B5EF4-FFF2-40B4-BE49-F238E27FC236}">
                <a16:creationId xmlns:a16="http://schemas.microsoft.com/office/drawing/2014/main" id="{44423793-AB31-480E-8DF3-9D75F363C7D3}"/>
              </a:ext>
            </a:extLst>
          </p:cNvPr>
          <p:cNvSpPr>
            <a:spLocks noGrp="1"/>
          </p:cNvSpPr>
          <p:nvPr/>
        </p:nvSpPr>
        <p:spPr>
          <a:xfrm>
            <a:off x="5124450" y="2781300"/>
            <a:ext cx="1819275" cy="381000"/>
          </a:xfrm>
          <a:prstGeom prst="rect">
            <a:avLst/>
          </a:prstGeom>
          <a:noFill/>
          <a:ln w="0">
            <a:noFill/>
            <a:prstDash val="solid"/>
          </a:ln>
        </p:spPr>
        <p:txBody>
          <a:bodyPr/>
          <a:lstStyle/>
          <a:p>
            <a:pPr algn="ctr">
              <a:defRPr sz="1800" b="1">
                <a:solidFill>
                  <a:srgbClr val="000000"/>
                </a:solidFill>
              </a:defRPr>
            </a:pPr>
            <a:r>
              <a:rPr sz="1800" b="1">
                <a:solidFill>
                  <a:srgbClr val="000000"/>
                </a:solidFill>
              </a:rPr>
              <a:t>Average charge</a:t>
            </a:r>
          </a:p>
        </p:txBody>
      </p:sp>
      <p:sp>
        <p:nvSpPr>
          <p:cNvPr id="17" name="Rectangle: Rounded Corners 16">
            <a:extLst>
              <a:ext uri="{FF2B5EF4-FFF2-40B4-BE49-F238E27FC236}">
                <a16:creationId xmlns:a16="http://schemas.microsoft.com/office/drawing/2014/main" id="{37EF9A24-989D-4B37-9BE4-8F2DAD68F8BF}"/>
              </a:ext>
            </a:extLst>
          </p:cNvPr>
          <p:cNvSpPr>
            <a:spLocks noGrp="1"/>
          </p:cNvSpPr>
          <p:nvPr/>
        </p:nvSpPr>
        <p:spPr>
          <a:xfrm>
            <a:off x="7286625" y="1809750"/>
            <a:ext cx="2047875" cy="1571625"/>
          </a:xfrm>
          <a:prstGeom prst="roundRect">
            <a:avLst>
              <a:gd name="adj" fmla="val 7273"/>
            </a:avLst>
          </a:prstGeom>
          <a:solidFill>
            <a:schemeClr val="bg1"/>
          </a:solidFill>
          <a:ln w="19050">
            <a:solidFill>
              <a:srgbClr val="2F80B7"/>
            </a:solidFill>
            <a:prstDash val="solid"/>
          </a:ln>
        </p:spPr>
      </p:sp>
      <p:sp>
        <p:nvSpPr>
          <p:cNvPr id="18" name="Rectangle 17">
            <a:extLst>
              <a:ext uri="{FF2B5EF4-FFF2-40B4-BE49-F238E27FC236}">
                <a16:creationId xmlns:a16="http://schemas.microsoft.com/office/drawing/2014/main" id="{BDC0F6D7-0EBC-4629-B621-E0EEB412FBBD}"/>
              </a:ext>
            </a:extLst>
          </p:cNvPr>
          <p:cNvSpPr>
            <a:spLocks noGrp="1"/>
          </p:cNvSpPr>
          <p:nvPr/>
        </p:nvSpPr>
        <p:spPr>
          <a:xfrm>
            <a:off x="7286625" y="1809750"/>
            <a:ext cx="2047875" cy="95250"/>
          </a:xfrm>
          <a:prstGeom prst="rect">
            <a:avLst/>
          </a:prstGeom>
          <a:solidFill>
            <a:srgbClr val="8FD3F4"/>
          </a:solidFill>
          <a:ln w="0">
            <a:solidFill>
              <a:srgbClr val="8FD3F4"/>
            </a:solidFill>
            <a:prstDash val="solid"/>
          </a:ln>
        </p:spPr>
      </p:sp>
      <p:sp>
        <p:nvSpPr>
          <p:cNvPr id="19" name="Rectangle 18">
            <a:extLst>
              <a:ext uri="{FF2B5EF4-FFF2-40B4-BE49-F238E27FC236}">
                <a16:creationId xmlns:a16="http://schemas.microsoft.com/office/drawing/2014/main" id="{EB32A79C-616C-42C1-ACC0-9AB8C6751B61}"/>
              </a:ext>
            </a:extLst>
          </p:cNvPr>
          <p:cNvSpPr>
            <a:spLocks noGrp="1"/>
          </p:cNvSpPr>
          <p:nvPr/>
        </p:nvSpPr>
        <p:spPr>
          <a:xfrm>
            <a:off x="7400925" y="2190750"/>
            <a:ext cx="1819275" cy="457200"/>
          </a:xfrm>
          <a:prstGeom prst="rect">
            <a:avLst/>
          </a:prstGeom>
          <a:noFill/>
          <a:ln w="0">
            <a:noFill/>
            <a:prstDash val="solid"/>
          </a:ln>
        </p:spPr>
        <p:txBody>
          <a:bodyPr/>
          <a:lstStyle/>
          <a:p>
            <a:pPr algn="ctr">
              <a:defRPr sz="1950" b="1">
                <a:solidFill>
                  <a:srgbClr val="2F80B7"/>
                </a:solidFill>
              </a:defRPr>
            </a:pPr>
            <a:r>
              <a:rPr sz="1950" b="1">
                <a:solidFill>
                  <a:srgbClr val="2F80B7"/>
                </a:solidFill>
              </a:rPr>
              <a:t>1,869</a:t>
            </a:r>
          </a:p>
        </p:txBody>
      </p:sp>
      <p:sp>
        <p:nvSpPr>
          <p:cNvPr id="20" name="Rectangle 19">
            <a:extLst>
              <a:ext uri="{FF2B5EF4-FFF2-40B4-BE49-F238E27FC236}">
                <a16:creationId xmlns:a16="http://schemas.microsoft.com/office/drawing/2014/main" id="{0DEB1B48-8F2B-4798-98DE-AB6FF7D3F3BA}"/>
              </a:ext>
            </a:extLst>
          </p:cNvPr>
          <p:cNvSpPr>
            <a:spLocks noGrp="1"/>
          </p:cNvSpPr>
          <p:nvPr/>
        </p:nvSpPr>
        <p:spPr>
          <a:xfrm>
            <a:off x="7400925" y="2781300"/>
            <a:ext cx="1819275" cy="381000"/>
          </a:xfrm>
          <a:prstGeom prst="rect">
            <a:avLst/>
          </a:prstGeom>
          <a:noFill/>
          <a:ln w="0">
            <a:noFill/>
            <a:prstDash val="solid"/>
          </a:ln>
        </p:spPr>
        <p:txBody>
          <a:bodyPr/>
          <a:lstStyle/>
          <a:p>
            <a:pPr algn="ctr">
              <a:defRPr sz="1800" b="1">
                <a:solidFill>
                  <a:srgbClr val="000000"/>
                </a:solidFill>
              </a:defRPr>
            </a:pPr>
            <a:r>
              <a:rPr sz="1800" b="1">
                <a:solidFill>
                  <a:srgbClr val="000000"/>
                </a:solidFill>
              </a:rPr>
              <a:t>Churned</a:t>
            </a:r>
          </a:p>
        </p:txBody>
      </p:sp>
      <p:sp>
        <p:nvSpPr>
          <p:cNvPr id="21" name="Rectangle: Rounded Corners 20">
            <a:extLst>
              <a:ext uri="{FF2B5EF4-FFF2-40B4-BE49-F238E27FC236}">
                <a16:creationId xmlns:a16="http://schemas.microsoft.com/office/drawing/2014/main" id="{A724EB7B-790D-4C5C-9BD2-E38A477E0172}"/>
              </a:ext>
            </a:extLst>
          </p:cNvPr>
          <p:cNvSpPr>
            <a:spLocks noGrp="1"/>
          </p:cNvSpPr>
          <p:nvPr/>
        </p:nvSpPr>
        <p:spPr>
          <a:xfrm>
            <a:off x="9563100" y="1809750"/>
            <a:ext cx="2047875" cy="1571625"/>
          </a:xfrm>
          <a:prstGeom prst="roundRect">
            <a:avLst>
              <a:gd name="adj" fmla="val 7273"/>
            </a:avLst>
          </a:prstGeom>
          <a:solidFill>
            <a:srgbClr val="FFFFFF"/>
          </a:solidFill>
          <a:ln w="19050">
            <a:solidFill>
              <a:srgbClr val="2F80B7"/>
            </a:solidFill>
            <a:prstDash val="solid"/>
          </a:ln>
        </p:spPr>
      </p:sp>
      <p:sp>
        <p:nvSpPr>
          <p:cNvPr id="22" name="Rectangle 21">
            <a:extLst>
              <a:ext uri="{FF2B5EF4-FFF2-40B4-BE49-F238E27FC236}">
                <a16:creationId xmlns:a16="http://schemas.microsoft.com/office/drawing/2014/main" id="{239BA9A5-06F8-4307-9584-66FDE67AD4B1}"/>
              </a:ext>
            </a:extLst>
          </p:cNvPr>
          <p:cNvSpPr>
            <a:spLocks noGrp="1"/>
          </p:cNvSpPr>
          <p:nvPr/>
        </p:nvSpPr>
        <p:spPr>
          <a:xfrm>
            <a:off x="9563100" y="1809750"/>
            <a:ext cx="2047875" cy="95250"/>
          </a:xfrm>
          <a:prstGeom prst="rect">
            <a:avLst/>
          </a:prstGeom>
          <a:solidFill>
            <a:srgbClr val="2F80B7"/>
          </a:solidFill>
          <a:ln w="0">
            <a:solidFill>
              <a:srgbClr val="2F80B7"/>
            </a:solidFill>
            <a:prstDash val="solid"/>
          </a:ln>
        </p:spPr>
      </p:sp>
      <p:sp>
        <p:nvSpPr>
          <p:cNvPr id="23" name="Rectangle 22">
            <a:extLst>
              <a:ext uri="{FF2B5EF4-FFF2-40B4-BE49-F238E27FC236}">
                <a16:creationId xmlns:a16="http://schemas.microsoft.com/office/drawing/2014/main" id="{557917B8-B3C1-4B65-8837-939C32F512AD}"/>
              </a:ext>
            </a:extLst>
          </p:cNvPr>
          <p:cNvSpPr>
            <a:spLocks noGrp="1"/>
          </p:cNvSpPr>
          <p:nvPr/>
        </p:nvSpPr>
        <p:spPr>
          <a:xfrm>
            <a:off x="9677400" y="2190750"/>
            <a:ext cx="1819275" cy="457200"/>
          </a:xfrm>
          <a:prstGeom prst="rect">
            <a:avLst/>
          </a:prstGeom>
          <a:noFill/>
          <a:ln w="0">
            <a:noFill/>
            <a:prstDash val="solid"/>
          </a:ln>
        </p:spPr>
        <p:txBody>
          <a:bodyPr/>
          <a:lstStyle/>
          <a:p>
            <a:pPr algn="ctr">
              <a:defRPr sz="1950" b="1">
                <a:solidFill>
                  <a:srgbClr val="2F80B7"/>
                </a:solidFill>
              </a:defRPr>
            </a:pPr>
            <a:r>
              <a:rPr sz="1950" b="1">
                <a:solidFill>
                  <a:srgbClr val="2F80B7"/>
                </a:solidFill>
              </a:rPr>
              <a:t>26.54%</a:t>
            </a:r>
          </a:p>
        </p:txBody>
      </p:sp>
      <p:sp>
        <p:nvSpPr>
          <p:cNvPr id="24" name="Rectangle 23">
            <a:extLst>
              <a:ext uri="{FF2B5EF4-FFF2-40B4-BE49-F238E27FC236}">
                <a16:creationId xmlns:a16="http://schemas.microsoft.com/office/drawing/2014/main" id="{FAB5E161-574C-484B-AE44-CA092944EC00}"/>
              </a:ext>
            </a:extLst>
          </p:cNvPr>
          <p:cNvSpPr>
            <a:spLocks noGrp="1"/>
          </p:cNvSpPr>
          <p:nvPr/>
        </p:nvSpPr>
        <p:spPr>
          <a:xfrm>
            <a:off x="9677400" y="2781300"/>
            <a:ext cx="1819275" cy="381000"/>
          </a:xfrm>
          <a:prstGeom prst="rect">
            <a:avLst/>
          </a:prstGeom>
          <a:noFill/>
          <a:ln w="0">
            <a:noFill/>
            <a:prstDash val="solid"/>
          </a:ln>
        </p:spPr>
        <p:txBody>
          <a:bodyPr/>
          <a:lstStyle/>
          <a:p>
            <a:pPr algn="ctr">
              <a:defRPr sz="1800" b="1">
                <a:solidFill>
                  <a:srgbClr val="000000"/>
                </a:solidFill>
              </a:defRPr>
            </a:pPr>
            <a:r>
              <a:rPr sz="1800" b="1">
                <a:solidFill>
                  <a:srgbClr val="000000"/>
                </a:solidFill>
              </a:rPr>
              <a:t>Churn rate</a:t>
            </a:r>
          </a:p>
        </p:txBody>
      </p:sp>
      <p:sp>
        <p:nvSpPr>
          <p:cNvPr id="25" name="Rectangle: Rounded Corners 24">
            <a:extLst>
              <a:ext uri="{FF2B5EF4-FFF2-40B4-BE49-F238E27FC236}">
                <a16:creationId xmlns:a16="http://schemas.microsoft.com/office/drawing/2014/main" id="{E6FF8175-1B00-4958-82B4-C211D407736A}"/>
              </a:ext>
            </a:extLst>
          </p:cNvPr>
          <p:cNvSpPr>
            <a:spLocks noGrp="1"/>
          </p:cNvSpPr>
          <p:nvPr/>
        </p:nvSpPr>
        <p:spPr>
          <a:xfrm>
            <a:off x="523875" y="3905250"/>
            <a:ext cx="10858500" cy="1714500"/>
          </a:xfrm>
          <a:prstGeom prst="roundRect">
            <a:avLst>
              <a:gd name="adj" fmla="val 6667"/>
            </a:avLst>
          </a:prstGeom>
          <a:solidFill>
            <a:srgbClr val="EAF7FD"/>
          </a:solidFill>
          <a:ln w="19050">
            <a:solidFill>
              <a:srgbClr val="2F80B7"/>
            </a:solidFill>
            <a:prstDash val="solid"/>
          </a:ln>
        </p:spPr>
      </p:sp>
      <p:sp>
        <p:nvSpPr>
          <p:cNvPr id="26" name="Rectangle 25">
            <a:extLst>
              <a:ext uri="{FF2B5EF4-FFF2-40B4-BE49-F238E27FC236}">
                <a16:creationId xmlns:a16="http://schemas.microsoft.com/office/drawing/2014/main" id="{8DAB0504-04D9-4A0B-940C-C5872D737EA7}"/>
              </a:ext>
            </a:extLst>
          </p:cNvPr>
          <p:cNvSpPr>
            <a:spLocks noGrp="1"/>
          </p:cNvSpPr>
          <p:nvPr/>
        </p:nvSpPr>
        <p:spPr>
          <a:xfrm>
            <a:off x="809625" y="4210050"/>
            <a:ext cx="266700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Overall interpretation</a:t>
            </a:r>
          </a:p>
        </p:txBody>
      </p:sp>
      <p:sp>
        <p:nvSpPr>
          <p:cNvPr id="27" name="Rectangle 26">
            <a:extLst>
              <a:ext uri="{FF2B5EF4-FFF2-40B4-BE49-F238E27FC236}">
                <a16:creationId xmlns:a16="http://schemas.microsoft.com/office/drawing/2014/main" id="{4A07EF29-3767-4A59-AD99-5FB1D62FC6D4}"/>
              </a:ext>
            </a:extLst>
          </p:cNvPr>
          <p:cNvSpPr>
            <a:spLocks noGrp="1"/>
          </p:cNvSpPr>
          <p:nvPr/>
        </p:nvSpPr>
        <p:spPr>
          <a:xfrm>
            <a:off x="809625" y="4762500"/>
            <a:ext cx="10096500"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Of the 7,043 customers, 4,720 stayed, 1,869 churned and 454 recently joined. Retention should focus on identifiable high-risk groups rather than treating every customer equally.</a:t>
            </a:r>
          </a:p>
        </p:txBody>
      </p:sp>
    </p:spTree>
    <p:extLst>
      <p:ext uri="{BB962C8B-B14F-4D97-AF65-F5344CB8AC3E}">
        <p14:creationId xmlns:p14="http://schemas.microsoft.com/office/powerpoint/2010/main" val="1055931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BE496AC-E9D2-43A3-A70F-35F518EC2ABB}"/>
              </a:ext>
            </a:extLst>
          </p:cNvPr>
          <p:cNvSpPr>
            <a:spLocks noGrp="1"/>
          </p:cNvSpPr>
          <p:nvPr/>
        </p:nvSpPr>
        <p:spPr>
          <a:xfrm>
            <a:off x="0" y="14068"/>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7F7EEE1E-2C24-400C-94E5-F3A5C5A1706F}"/>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D678D4D1-084A-4AAD-BE15-7C7431361216}"/>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TELECOM CUSTOMER CHURN ANALYSIS</a:t>
            </a:r>
          </a:p>
        </p:txBody>
      </p:sp>
      <p:sp>
        <p:nvSpPr>
          <p:cNvPr id="4" name="Rectangle 3">
            <a:extLst>
              <a:ext uri="{FF2B5EF4-FFF2-40B4-BE49-F238E27FC236}">
                <a16:creationId xmlns:a16="http://schemas.microsoft.com/office/drawing/2014/main" id="{8F9CDF03-0879-461C-93FF-7692B3875994}"/>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sz="1950" b="1">
                <a:solidFill>
                  <a:srgbClr val="000000"/>
                </a:solidFill>
              </a:rPr>
              <a:t>Customer status shows a stable base alongside a material churn problem</a:t>
            </a:r>
          </a:p>
        </p:txBody>
      </p:sp>
      <p:graphicFrame>
        <p:nvGraphicFramePr>
          <p:cNvPr id="16" name="Chart"/>
          <p:cNvGraphicFramePr/>
          <p:nvPr/>
        </p:nvGraphicFramePr>
        <p:xfrm>
          <a:off x="666750" y="1619250"/>
          <a:ext cx="1085850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Rounded Corners 5">
            <a:extLst>
              <a:ext uri="{FF2B5EF4-FFF2-40B4-BE49-F238E27FC236}">
                <a16:creationId xmlns:a16="http://schemas.microsoft.com/office/drawing/2014/main" id="{F5940E20-C184-4911-8ADE-B497FEB8FB1D}"/>
              </a:ext>
            </a:extLst>
          </p:cNvPr>
          <p:cNvSpPr>
            <a:spLocks noGrp="1"/>
          </p:cNvSpPr>
          <p:nvPr/>
        </p:nvSpPr>
        <p:spPr>
          <a:xfrm>
            <a:off x="552450" y="4810125"/>
            <a:ext cx="11115674" cy="1928300"/>
          </a:xfrm>
          <a:prstGeom prst="roundRect">
            <a:avLst>
              <a:gd name="adj" fmla="val 7273"/>
            </a:avLst>
          </a:prstGeom>
          <a:solidFill>
            <a:srgbClr val="EAF7FD"/>
          </a:solidFill>
          <a:ln w="19050">
            <a:solidFill>
              <a:srgbClr val="2F80B7"/>
            </a:solidFill>
            <a:prstDash val="solid"/>
          </a:ln>
        </p:spPr>
      </p:sp>
      <p:sp>
        <p:nvSpPr>
          <p:cNvPr id="7" name="Rectangle 6">
            <a:extLst>
              <a:ext uri="{FF2B5EF4-FFF2-40B4-BE49-F238E27FC236}">
                <a16:creationId xmlns:a16="http://schemas.microsoft.com/office/drawing/2014/main" id="{3705A844-4B38-4AA2-B7FE-2D6B0548882E}"/>
              </a:ext>
            </a:extLst>
          </p:cNvPr>
          <p:cNvSpPr>
            <a:spLocks noGrp="1"/>
          </p:cNvSpPr>
          <p:nvPr/>
        </p:nvSpPr>
        <p:spPr>
          <a:xfrm>
            <a:off x="6076950" y="5000625"/>
            <a:ext cx="28575" cy="1190625"/>
          </a:xfrm>
          <a:prstGeom prst="rect">
            <a:avLst/>
          </a:prstGeom>
          <a:solidFill>
            <a:srgbClr val="8FD3F4"/>
          </a:solidFill>
          <a:ln w="0">
            <a:solidFill>
              <a:srgbClr val="8FD3F4"/>
            </a:solidFill>
            <a:prstDash val="solid"/>
          </a:ln>
        </p:spPr>
      </p:sp>
      <p:sp>
        <p:nvSpPr>
          <p:cNvPr id="8" name="Rectangle 7">
            <a:extLst>
              <a:ext uri="{FF2B5EF4-FFF2-40B4-BE49-F238E27FC236}">
                <a16:creationId xmlns:a16="http://schemas.microsoft.com/office/drawing/2014/main" id="{42233AF4-920F-4D3E-AA11-39201841CF7E}"/>
              </a:ext>
            </a:extLst>
          </p:cNvPr>
          <p:cNvSpPr>
            <a:spLocks noGrp="1"/>
          </p:cNvSpPr>
          <p:nvPr/>
        </p:nvSpPr>
        <p:spPr>
          <a:xfrm>
            <a:off x="809625" y="5000625"/>
            <a:ext cx="476250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Insight</a:t>
            </a:r>
          </a:p>
        </p:txBody>
      </p:sp>
      <p:sp>
        <p:nvSpPr>
          <p:cNvPr id="9" name="Rectangle 8">
            <a:extLst>
              <a:ext uri="{FF2B5EF4-FFF2-40B4-BE49-F238E27FC236}">
                <a16:creationId xmlns:a16="http://schemas.microsoft.com/office/drawing/2014/main" id="{DBB26407-C5F8-49C2-82C9-24318F38CE22}"/>
              </a:ext>
            </a:extLst>
          </p:cNvPr>
          <p:cNvSpPr>
            <a:spLocks noGrp="1"/>
          </p:cNvSpPr>
          <p:nvPr/>
        </p:nvSpPr>
        <p:spPr>
          <a:xfrm>
            <a:off x="809625" y="5476875"/>
            <a:ext cx="4905375" cy="666750"/>
          </a:xfrm>
          <a:prstGeom prst="rect">
            <a:avLst/>
          </a:prstGeom>
          <a:noFill/>
          <a:ln w="0">
            <a:noFill/>
            <a:prstDash val="solid"/>
          </a:ln>
        </p:spPr>
        <p:txBody>
          <a:bodyPr/>
          <a:lstStyle/>
          <a:p>
            <a:pPr algn="l">
              <a:defRPr sz="1800" b="0">
                <a:solidFill>
                  <a:srgbClr val="000000"/>
                </a:solidFill>
              </a:defRPr>
            </a:pPr>
            <a:r>
              <a:rPr lang="en-US" sz="1800" b="0" dirty="0">
                <a:solidFill>
                  <a:srgbClr val="000000"/>
                </a:solidFill>
              </a:rPr>
              <a:t>Customers who stayed had the longest average tenure, while churned customers had the shortest. This suggests that customers are most likely to leave early in their relationship with the company.</a:t>
            </a:r>
            <a:r>
              <a:rPr sz="1800" b="0" dirty="0">
                <a:solidFill>
                  <a:srgbClr val="000000"/>
                </a:solidFill>
              </a:rPr>
              <a:t>.</a:t>
            </a:r>
          </a:p>
        </p:txBody>
      </p:sp>
      <p:sp>
        <p:nvSpPr>
          <p:cNvPr id="10" name="Rectangle 9">
            <a:extLst>
              <a:ext uri="{FF2B5EF4-FFF2-40B4-BE49-F238E27FC236}">
                <a16:creationId xmlns:a16="http://schemas.microsoft.com/office/drawing/2014/main" id="{B3BF1094-A5B6-4228-A0BE-6D886B37E555}"/>
              </a:ext>
            </a:extLst>
          </p:cNvPr>
          <p:cNvSpPr>
            <a:spLocks noGrp="1"/>
          </p:cNvSpPr>
          <p:nvPr/>
        </p:nvSpPr>
        <p:spPr>
          <a:xfrm>
            <a:off x="6429375" y="5000625"/>
            <a:ext cx="485775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Recommended action</a:t>
            </a:r>
          </a:p>
        </p:txBody>
      </p:sp>
      <p:sp>
        <p:nvSpPr>
          <p:cNvPr id="11" name="Rectangle 10">
            <a:extLst>
              <a:ext uri="{FF2B5EF4-FFF2-40B4-BE49-F238E27FC236}">
                <a16:creationId xmlns:a16="http://schemas.microsoft.com/office/drawing/2014/main" id="{B0374155-6AE2-43E1-B006-3909A3205CD6}"/>
              </a:ext>
            </a:extLst>
          </p:cNvPr>
          <p:cNvSpPr>
            <a:spLocks noGrp="1"/>
          </p:cNvSpPr>
          <p:nvPr/>
        </p:nvSpPr>
        <p:spPr>
          <a:xfrm>
            <a:off x="6429375" y="5476875"/>
            <a:ext cx="4857750" cy="666750"/>
          </a:xfrm>
          <a:prstGeom prst="rect">
            <a:avLst/>
          </a:prstGeom>
          <a:noFill/>
          <a:ln w="0">
            <a:noFill/>
            <a:prstDash val="solid"/>
          </a:ln>
        </p:spPr>
        <p:txBody>
          <a:bodyPr/>
          <a:lstStyle/>
          <a:p>
            <a:pPr algn="l">
              <a:defRPr sz="1800" b="0">
                <a:solidFill>
                  <a:srgbClr val="000000"/>
                </a:solidFill>
              </a:defRPr>
            </a:pPr>
            <a:r>
              <a:rPr lang="en-US" sz="1800" b="0" dirty="0">
                <a:solidFill>
                  <a:srgbClr val="000000"/>
                </a:solidFill>
              </a:rPr>
              <a:t>Introduce onboarding support, service check-ins and targeted retention offers during customers’ first few months</a:t>
            </a:r>
            <a:r>
              <a:rPr sz="1800" b="0" dirty="0">
                <a:solidFill>
                  <a:srgbClr val="000000"/>
                </a:solidFill>
              </a:rPr>
              <a:t>.</a:t>
            </a:r>
          </a:p>
        </p:txBody>
      </p:sp>
      <p:graphicFrame>
        <p:nvGraphicFramePr>
          <p:cNvPr id="13" name="Chart 12">
            <a:extLst>
              <a:ext uri="{FF2B5EF4-FFF2-40B4-BE49-F238E27FC236}">
                <a16:creationId xmlns:a16="http://schemas.microsoft.com/office/drawing/2014/main" id="{6795727D-DAF2-47BD-9AEB-72C717700DFA}"/>
              </a:ext>
            </a:extLst>
          </p:cNvPr>
          <p:cNvGraphicFramePr>
            <a:graphicFrameLocks/>
          </p:cNvGraphicFramePr>
          <p:nvPr>
            <p:extLst>
              <p:ext uri="{D42A27DB-BD31-4B8C-83A1-F6EECF244321}">
                <p14:modId xmlns:p14="http://schemas.microsoft.com/office/powerpoint/2010/main" val="2216689878"/>
              </p:ext>
            </p:extLst>
          </p:nvPr>
        </p:nvGraphicFramePr>
        <p:xfrm>
          <a:off x="1027088" y="1680943"/>
          <a:ext cx="9090074"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03367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186F9E1-EE97-414C-8253-795358B1C5FE}"/>
              </a:ext>
            </a:extLst>
          </p:cNvPr>
          <p:cNvSpPr>
            <a:spLocks noGrp="1"/>
          </p:cNvSpPr>
          <p:nvPr/>
        </p:nvSpPr>
        <p:spPr>
          <a:xfrm>
            <a:off x="0" y="0"/>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36FFDF60-760E-4AFD-A1C9-79C311D1B30E}"/>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961F4A8F-309F-4AB6-A46F-F8D6FC8D01A5}"/>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TELECOM CUSTOMER CHURN ANALYSIS</a:t>
            </a:r>
          </a:p>
        </p:txBody>
      </p:sp>
      <p:sp>
        <p:nvSpPr>
          <p:cNvPr id="4" name="Rectangle 3">
            <a:extLst>
              <a:ext uri="{FF2B5EF4-FFF2-40B4-BE49-F238E27FC236}">
                <a16:creationId xmlns:a16="http://schemas.microsoft.com/office/drawing/2014/main" id="{1DC4C455-D1CA-4A1E-B9F7-29DB03C154DE}"/>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sz="1950" b="1">
                <a:solidFill>
                  <a:srgbClr val="000000"/>
                </a:solidFill>
              </a:rPr>
              <a:t>Fibre-optic customers recorded the highest churn rate among internet users</a:t>
            </a:r>
          </a:p>
        </p:txBody>
      </p:sp>
      <p:sp>
        <p:nvSpPr>
          <p:cNvPr id="6" name="Rectangle: Rounded Corners 5">
            <a:extLst>
              <a:ext uri="{FF2B5EF4-FFF2-40B4-BE49-F238E27FC236}">
                <a16:creationId xmlns:a16="http://schemas.microsoft.com/office/drawing/2014/main" id="{472FB253-19A0-4F7A-8AC2-085C5DCD0C5F}"/>
              </a:ext>
            </a:extLst>
          </p:cNvPr>
          <p:cNvSpPr>
            <a:spLocks noGrp="1"/>
          </p:cNvSpPr>
          <p:nvPr/>
        </p:nvSpPr>
        <p:spPr>
          <a:xfrm>
            <a:off x="523875" y="4810125"/>
            <a:ext cx="11144250" cy="1571625"/>
          </a:xfrm>
          <a:prstGeom prst="roundRect">
            <a:avLst>
              <a:gd name="adj" fmla="val 7273"/>
            </a:avLst>
          </a:prstGeom>
          <a:solidFill>
            <a:srgbClr val="EAF7FD"/>
          </a:solidFill>
          <a:ln w="19050">
            <a:solidFill>
              <a:srgbClr val="2F80B7"/>
            </a:solidFill>
            <a:prstDash val="solid"/>
          </a:ln>
        </p:spPr>
      </p:sp>
      <p:sp>
        <p:nvSpPr>
          <p:cNvPr id="7" name="Rectangle 6">
            <a:extLst>
              <a:ext uri="{FF2B5EF4-FFF2-40B4-BE49-F238E27FC236}">
                <a16:creationId xmlns:a16="http://schemas.microsoft.com/office/drawing/2014/main" id="{F092BFC0-682B-4099-80DC-8AD228F6FB15}"/>
              </a:ext>
            </a:extLst>
          </p:cNvPr>
          <p:cNvSpPr>
            <a:spLocks noGrp="1"/>
          </p:cNvSpPr>
          <p:nvPr/>
        </p:nvSpPr>
        <p:spPr>
          <a:xfrm>
            <a:off x="6076950" y="5000625"/>
            <a:ext cx="28575" cy="1190625"/>
          </a:xfrm>
          <a:prstGeom prst="rect">
            <a:avLst/>
          </a:prstGeom>
          <a:solidFill>
            <a:srgbClr val="8FD3F4"/>
          </a:solidFill>
          <a:ln w="0">
            <a:solidFill>
              <a:srgbClr val="8FD3F4"/>
            </a:solidFill>
            <a:prstDash val="solid"/>
          </a:ln>
        </p:spPr>
      </p:sp>
      <p:sp>
        <p:nvSpPr>
          <p:cNvPr id="8" name="Rectangle 7">
            <a:extLst>
              <a:ext uri="{FF2B5EF4-FFF2-40B4-BE49-F238E27FC236}">
                <a16:creationId xmlns:a16="http://schemas.microsoft.com/office/drawing/2014/main" id="{BCCE6FD4-7E45-42AC-B7FC-DE4957133BE2}"/>
              </a:ext>
            </a:extLst>
          </p:cNvPr>
          <p:cNvSpPr>
            <a:spLocks noGrp="1"/>
          </p:cNvSpPr>
          <p:nvPr/>
        </p:nvSpPr>
        <p:spPr>
          <a:xfrm>
            <a:off x="809625" y="5000625"/>
            <a:ext cx="476250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Insight</a:t>
            </a:r>
          </a:p>
        </p:txBody>
      </p:sp>
      <p:sp>
        <p:nvSpPr>
          <p:cNvPr id="9" name="Rectangle 8">
            <a:extLst>
              <a:ext uri="{FF2B5EF4-FFF2-40B4-BE49-F238E27FC236}">
                <a16:creationId xmlns:a16="http://schemas.microsoft.com/office/drawing/2014/main" id="{52ED0966-0458-4C48-972D-D2E0D98FD31F}"/>
              </a:ext>
            </a:extLst>
          </p:cNvPr>
          <p:cNvSpPr>
            <a:spLocks noGrp="1"/>
          </p:cNvSpPr>
          <p:nvPr/>
        </p:nvSpPr>
        <p:spPr>
          <a:xfrm>
            <a:off x="809625" y="5476875"/>
            <a:ext cx="4905375"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Fibre churn reached 40.72%, over twice the DSL rate. ‘No internet service’ replaces the N/A label.</a:t>
            </a:r>
          </a:p>
        </p:txBody>
      </p:sp>
      <p:sp>
        <p:nvSpPr>
          <p:cNvPr id="10" name="Rectangle 9">
            <a:extLst>
              <a:ext uri="{FF2B5EF4-FFF2-40B4-BE49-F238E27FC236}">
                <a16:creationId xmlns:a16="http://schemas.microsoft.com/office/drawing/2014/main" id="{F10D73CB-70AF-4142-A3C9-69351D237836}"/>
              </a:ext>
            </a:extLst>
          </p:cNvPr>
          <p:cNvSpPr>
            <a:spLocks noGrp="1"/>
          </p:cNvSpPr>
          <p:nvPr/>
        </p:nvSpPr>
        <p:spPr>
          <a:xfrm>
            <a:off x="6429375" y="5000625"/>
            <a:ext cx="485775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Recommended action</a:t>
            </a:r>
          </a:p>
        </p:txBody>
      </p:sp>
      <p:sp>
        <p:nvSpPr>
          <p:cNvPr id="11" name="Rectangle 10">
            <a:extLst>
              <a:ext uri="{FF2B5EF4-FFF2-40B4-BE49-F238E27FC236}">
                <a16:creationId xmlns:a16="http://schemas.microsoft.com/office/drawing/2014/main" id="{0FEF0A89-1E05-44DB-B334-7857521B98F0}"/>
              </a:ext>
            </a:extLst>
          </p:cNvPr>
          <p:cNvSpPr>
            <a:spLocks noGrp="1"/>
          </p:cNvSpPr>
          <p:nvPr/>
        </p:nvSpPr>
        <p:spPr>
          <a:xfrm>
            <a:off x="6429375" y="5476875"/>
            <a:ext cx="4857750"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Review fibre price, reliability and support, then contact dissatisfied users first.</a:t>
            </a:r>
          </a:p>
        </p:txBody>
      </p:sp>
      <p:graphicFrame>
        <p:nvGraphicFramePr>
          <p:cNvPr id="13" name="Chart 12">
            <a:extLst>
              <a:ext uri="{FF2B5EF4-FFF2-40B4-BE49-F238E27FC236}">
                <a16:creationId xmlns:a16="http://schemas.microsoft.com/office/drawing/2014/main" id="{A28E5935-CA86-4890-B6A9-EB1E5622F989}"/>
              </a:ext>
            </a:extLst>
          </p:cNvPr>
          <p:cNvGraphicFramePr>
            <a:graphicFrameLocks/>
          </p:cNvGraphicFramePr>
          <p:nvPr>
            <p:extLst>
              <p:ext uri="{D42A27DB-BD31-4B8C-83A1-F6EECF244321}">
                <p14:modId xmlns:p14="http://schemas.microsoft.com/office/powerpoint/2010/main" val="360472445"/>
              </p:ext>
            </p:extLst>
          </p:nvPr>
        </p:nvGraphicFramePr>
        <p:xfrm>
          <a:off x="809625" y="1657350"/>
          <a:ext cx="11035372" cy="31432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01455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4733D53-0CDB-4CE9-AA19-01C0A9DC8079}"/>
              </a:ext>
            </a:extLst>
          </p:cNvPr>
          <p:cNvSpPr>
            <a:spLocks noGrp="1"/>
          </p:cNvSpPr>
          <p:nvPr/>
        </p:nvSpPr>
        <p:spPr>
          <a:xfrm>
            <a:off x="0" y="0"/>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50149D3A-0236-4729-AF68-4E14ABF6DCBB}"/>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D87ADF14-B3BE-4120-8E4B-D7BE336F9CEF}"/>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TELECOM CUSTOMER CHURN ANALYSIS</a:t>
            </a:r>
          </a:p>
        </p:txBody>
      </p:sp>
      <p:sp>
        <p:nvSpPr>
          <p:cNvPr id="4" name="Rectangle 3">
            <a:extLst>
              <a:ext uri="{FF2B5EF4-FFF2-40B4-BE49-F238E27FC236}">
                <a16:creationId xmlns:a16="http://schemas.microsoft.com/office/drawing/2014/main" id="{69EC38F4-B0A1-431C-BB14-377D2ED458B0}"/>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sz="1950" b="1">
                <a:solidFill>
                  <a:srgbClr val="000000"/>
                </a:solidFill>
              </a:rPr>
              <a:t>Month-to-month contracts created the clearest concentration of churn</a:t>
            </a:r>
          </a:p>
        </p:txBody>
      </p:sp>
      <p:sp>
        <p:nvSpPr>
          <p:cNvPr id="6" name="Rectangle: Rounded Corners 5">
            <a:extLst>
              <a:ext uri="{FF2B5EF4-FFF2-40B4-BE49-F238E27FC236}">
                <a16:creationId xmlns:a16="http://schemas.microsoft.com/office/drawing/2014/main" id="{7F4B9A64-C581-427C-B0FF-4E6F032AF39B}"/>
              </a:ext>
            </a:extLst>
          </p:cNvPr>
          <p:cNvSpPr>
            <a:spLocks noGrp="1"/>
          </p:cNvSpPr>
          <p:nvPr/>
        </p:nvSpPr>
        <p:spPr>
          <a:xfrm>
            <a:off x="523875" y="4810125"/>
            <a:ext cx="11144250" cy="1571625"/>
          </a:xfrm>
          <a:prstGeom prst="roundRect">
            <a:avLst>
              <a:gd name="adj" fmla="val 7273"/>
            </a:avLst>
          </a:prstGeom>
          <a:solidFill>
            <a:srgbClr val="EAF7FD"/>
          </a:solidFill>
          <a:ln w="19050">
            <a:solidFill>
              <a:srgbClr val="2F80B7"/>
            </a:solidFill>
            <a:prstDash val="solid"/>
          </a:ln>
        </p:spPr>
      </p:sp>
      <p:sp>
        <p:nvSpPr>
          <p:cNvPr id="7" name="Rectangle 6">
            <a:extLst>
              <a:ext uri="{FF2B5EF4-FFF2-40B4-BE49-F238E27FC236}">
                <a16:creationId xmlns:a16="http://schemas.microsoft.com/office/drawing/2014/main" id="{18241A30-9FC6-4304-93BC-305A37442D60}"/>
              </a:ext>
            </a:extLst>
          </p:cNvPr>
          <p:cNvSpPr>
            <a:spLocks noGrp="1"/>
          </p:cNvSpPr>
          <p:nvPr/>
        </p:nvSpPr>
        <p:spPr>
          <a:xfrm>
            <a:off x="6076950" y="5000625"/>
            <a:ext cx="28575" cy="1190625"/>
          </a:xfrm>
          <a:prstGeom prst="rect">
            <a:avLst/>
          </a:prstGeom>
          <a:solidFill>
            <a:srgbClr val="8FD3F4"/>
          </a:solidFill>
          <a:ln w="0">
            <a:solidFill>
              <a:srgbClr val="8FD3F4"/>
            </a:solidFill>
            <a:prstDash val="solid"/>
          </a:ln>
        </p:spPr>
      </p:sp>
      <p:sp>
        <p:nvSpPr>
          <p:cNvPr id="8" name="Rectangle 7">
            <a:extLst>
              <a:ext uri="{FF2B5EF4-FFF2-40B4-BE49-F238E27FC236}">
                <a16:creationId xmlns:a16="http://schemas.microsoft.com/office/drawing/2014/main" id="{EE78B6D7-3C70-4267-893D-D17B9E8F08D9}"/>
              </a:ext>
            </a:extLst>
          </p:cNvPr>
          <p:cNvSpPr>
            <a:spLocks noGrp="1"/>
          </p:cNvSpPr>
          <p:nvPr/>
        </p:nvSpPr>
        <p:spPr>
          <a:xfrm>
            <a:off x="809625" y="5000625"/>
            <a:ext cx="476250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Insight</a:t>
            </a:r>
          </a:p>
        </p:txBody>
      </p:sp>
      <p:sp>
        <p:nvSpPr>
          <p:cNvPr id="9" name="Rectangle 8">
            <a:extLst>
              <a:ext uri="{FF2B5EF4-FFF2-40B4-BE49-F238E27FC236}">
                <a16:creationId xmlns:a16="http://schemas.microsoft.com/office/drawing/2014/main" id="{BF27C308-3F09-4553-ADED-19333957F999}"/>
              </a:ext>
            </a:extLst>
          </p:cNvPr>
          <p:cNvSpPr>
            <a:spLocks noGrp="1"/>
          </p:cNvSpPr>
          <p:nvPr/>
        </p:nvSpPr>
        <p:spPr>
          <a:xfrm>
            <a:off x="809625" y="5476875"/>
            <a:ext cx="4905375"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Month-to-month churn was 45.84%, versus 10.71% for one-year and 2.55% for two-year contracts.</a:t>
            </a:r>
          </a:p>
        </p:txBody>
      </p:sp>
      <p:sp>
        <p:nvSpPr>
          <p:cNvPr id="10" name="Rectangle 9">
            <a:extLst>
              <a:ext uri="{FF2B5EF4-FFF2-40B4-BE49-F238E27FC236}">
                <a16:creationId xmlns:a16="http://schemas.microsoft.com/office/drawing/2014/main" id="{EC0C0361-CEC4-486D-AA44-2EA087E09160}"/>
              </a:ext>
            </a:extLst>
          </p:cNvPr>
          <p:cNvSpPr>
            <a:spLocks noGrp="1"/>
          </p:cNvSpPr>
          <p:nvPr/>
        </p:nvSpPr>
        <p:spPr>
          <a:xfrm>
            <a:off x="6429375" y="5000625"/>
            <a:ext cx="485775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Recommended action</a:t>
            </a:r>
          </a:p>
        </p:txBody>
      </p:sp>
      <p:sp>
        <p:nvSpPr>
          <p:cNvPr id="11" name="Rectangle 10">
            <a:extLst>
              <a:ext uri="{FF2B5EF4-FFF2-40B4-BE49-F238E27FC236}">
                <a16:creationId xmlns:a16="http://schemas.microsoft.com/office/drawing/2014/main" id="{AC8D20AA-7542-4B66-BE67-95D07B34ED52}"/>
              </a:ext>
            </a:extLst>
          </p:cNvPr>
          <p:cNvSpPr>
            <a:spLocks noGrp="1"/>
          </p:cNvSpPr>
          <p:nvPr/>
        </p:nvSpPr>
        <p:spPr>
          <a:xfrm>
            <a:off x="6429375" y="5476875"/>
            <a:ext cx="4857750"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Give suitable month-to-month customers a simple incentive to choose a one-year plan.</a:t>
            </a:r>
          </a:p>
        </p:txBody>
      </p:sp>
      <p:graphicFrame>
        <p:nvGraphicFramePr>
          <p:cNvPr id="13" name="Chart 12">
            <a:extLst>
              <a:ext uri="{FF2B5EF4-FFF2-40B4-BE49-F238E27FC236}">
                <a16:creationId xmlns:a16="http://schemas.microsoft.com/office/drawing/2014/main" id="{C472E2C7-21C7-4536-A418-577C1B726241}"/>
              </a:ext>
            </a:extLst>
          </p:cNvPr>
          <p:cNvGraphicFramePr>
            <a:graphicFrameLocks/>
          </p:cNvGraphicFramePr>
          <p:nvPr>
            <p:extLst>
              <p:ext uri="{D42A27DB-BD31-4B8C-83A1-F6EECF244321}">
                <p14:modId xmlns:p14="http://schemas.microsoft.com/office/powerpoint/2010/main" val="620319101"/>
              </p:ext>
            </p:extLst>
          </p:nvPr>
        </p:nvGraphicFramePr>
        <p:xfrm>
          <a:off x="914401" y="1716881"/>
          <a:ext cx="10564836" cy="285511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04642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F794CB1-7678-4914-BA21-E2F0A13F8CAD}"/>
              </a:ext>
            </a:extLst>
          </p:cNvPr>
          <p:cNvSpPr>
            <a:spLocks noGrp="1"/>
          </p:cNvSpPr>
          <p:nvPr/>
        </p:nvSpPr>
        <p:spPr>
          <a:xfrm>
            <a:off x="0" y="0"/>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5EE148EE-FDA0-4697-A868-98CE2991445C}"/>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95982EB9-CA52-4CBE-A2A5-64027421FFF8}"/>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TELECOM CUSTOMER CHURN ANALYSIS</a:t>
            </a:r>
          </a:p>
        </p:txBody>
      </p:sp>
      <p:sp>
        <p:nvSpPr>
          <p:cNvPr id="4" name="Rectangle 3">
            <a:extLst>
              <a:ext uri="{FF2B5EF4-FFF2-40B4-BE49-F238E27FC236}">
                <a16:creationId xmlns:a16="http://schemas.microsoft.com/office/drawing/2014/main" id="{0A9A8502-CD6E-4BD5-BEF0-061243EA093C}"/>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sz="1950" b="1">
                <a:solidFill>
                  <a:srgbClr val="000000"/>
                </a:solidFill>
              </a:rPr>
              <a:t>New customers were the most vulnerable, while long-tenure customers were resilient</a:t>
            </a:r>
          </a:p>
        </p:txBody>
      </p:sp>
      <p:graphicFrame>
        <p:nvGraphicFramePr>
          <p:cNvPr id="16" name="Chart"/>
          <p:cNvGraphicFramePr/>
          <p:nvPr>
            <p:extLst>
              <p:ext uri="{D42A27DB-BD31-4B8C-83A1-F6EECF244321}">
                <p14:modId xmlns:p14="http://schemas.microsoft.com/office/powerpoint/2010/main" val="785777235"/>
              </p:ext>
            </p:extLst>
          </p:nvPr>
        </p:nvGraphicFramePr>
        <p:xfrm>
          <a:off x="676275" y="1602691"/>
          <a:ext cx="1085850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Rounded Corners 5">
            <a:extLst>
              <a:ext uri="{FF2B5EF4-FFF2-40B4-BE49-F238E27FC236}">
                <a16:creationId xmlns:a16="http://schemas.microsoft.com/office/drawing/2014/main" id="{5DE86378-65AB-4E03-BC2E-C571547EE338}"/>
              </a:ext>
            </a:extLst>
          </p:cNvPr>
          <p:cNvSpPr>
            <a:spLocks noGrp="1"/>
          </p:cNvSpPr>
          <p:nvPr/>
        </p:nvSpPr>
        <p:spPr>
          <a:xfrm>
            <a:off x="523875" y="4810125"/>
            <a:ext cx="11144250" cy="1571625"/>
          </a:xfrm>
          <a:prstGeom prst="roundRect">
            <a:avLst>
              <a:gd name="adj" fmla="val 7273"/>
            </a:avLst>
          </a:prstGeom>
          <a:solidFill>
            <a:srgbClr val="EAF7FD"/>
          </a:solidFill>
          <a:ln w="19050">
            <a:solidFill>
              <a:srgbClr val="2F80B7"/>
            </a:solidFill>
            <a:prstDash val="solid"/>
          </a:ln>
        </p:spPr>
      </p:sp>
      <p:sp>
        <p:nvSpPr>
          <p:cNvPr id="7" name="Rectangle 6">
            <a:extLst>
              <a:ext uri="{FF2B5EF4-FFF2-40B4-BE49-F238E27FC236}">
                <a16:creationId xmlns:a16="http://schemas.microsoft.com/office/drawing/2014/main" id="{B284AAF9-16C3-4E67-88E6-EBF891463DA1}"/>
              </a:ext>
            </a:extLst>
          </p:cNvPr>
          <p:cNvSpPr>
            <a:spLocks noGrp="1"/>
          </p:cNvSpPr>
          <p:nvPr/>
        </p:nvSpPr>
        <p:spPr>
          <a:xfrm>
            <a:off x="6076950" y="5000625"/>
            <a:ext cx="28575" cy="1190625"/>
          </a:xfrm>
          <a:prstGeom prst="rect">
            <a:avLst/>
          </a:prstGeom>
          <a:solidFill>
            <a:srgbClr val="8FD3F4"/>
          </a:solidFill>
          <a:ln w="0">
            <a:solidFill>
              <a:srgbClr val="8FD3F4"/>
            </a:solidFill>
            <a:prstDash val="solid"/>
          </a:ln>
        </p:spPr>
      </p:sp>
      <p:sp>
        <p:nvSpPr>
          <p:cNvPr id="8" name="Rectangle 7">
            <a:extLst>
              <a:ext uri="{FF2B5EF4-FFF2-40B4-BE49-F238E27FC236}">
                <a16:creationId xmlns:a16="http://schemas.microsoft.com/office/drawing/2014/main" id="{C1ED40DB-200A-4A61-8CB0-4875DF4A2431}"/>
              </a:ext>
            </a:extLst>
          </p:cNvPr>
          <p:cNvSpPr>
            <a:spLocks noGrp="1"/>
          </p:cNvSpPr>
          <p:nvPr/>
        </p:nvSpPr>
        <p:spPr>
          <a:xfrm>
            <a:off x="809625" y="5000625"/>
            <a:ext cx="476250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Insight</a:t>
            </a:r>
          </a:p>
        </p:txBody>
      </p:sp>
      <p:sp>
        <p:nvSpPr>
          <p:cNvPr id="9" name="Rectangle 8">
            <a:extLst>
              <a:ext uri="{FF2B5EF4-FFF2-40B4-BE49-F238E27FC236}">
                <a16:creationId xmlns:a16="http://schemas.microsoft.com/office/drawing/2014/main" id="{6128D468-9AE0-49DE-A253-E6C8F22FE482}"/>
              </a:ext>
            </a:extLst>
          </p:cNvPr>
          <p:cNvSpPr>
            <a:spLocks noGrp="1"/>
          </p:cNvSpPr>
          <p:nvPr/>
        </p:nvSpPr>
        <p:spPr>
          <a:xfrm>
            <a:off x="809625" y="5476875"/>
            <a:ext cx="4905375"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New-customer churn reached 47.44%. Churned customers averaged 18 months; stayed customers averaged 41 months.</a:t>
            </a:r>
          </a:p>
        </p:txBody>
      </p:sp>
      <p:sp>
        <p:nvSpPr>
          <p:cNvPr id="10" name="Rectangle 9">
            <a:extLst>
              <a:ext uri="{FF2B5EF4-FFF2-40B4-BE49-F238E27FC236}">
                <a16:creationId xmlns:a16="http://schemas.microsoft.com/office/drawing/2014/main" id="{FDB05B06-3496-4252-9215-DE4942D79BC0}"/>
              </a:ext>
            </a:extLst>
          </p:cNvPr>
          <p:cNvSpPr>
            <a:spLocks noGrp="1"/>
          </p:cNvSpPr>
          <p:nvPr/>
        </p:nvSpPr>
        <p:spPr>
          <a:xfrm>
            <a:off x="6429375" y="5000625"/>
            <a:ext cx="485775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Recommended action</a:t>
            </a:r>
          </a:p>
        </p:txBody>
      </p:sp>
      <p:sp>
        <p:nvSpPr>
          <p:cNvPr id="11" name="Rectangle 10">
            <a:extLst>
              <a:ext uri="{FF2B5EF4-FFF2-40B4-BE49-F238E27FC236}">
                <a16:creationId xmlns:a16="http://schemas.microsoft.com/office/drawing/2014/main" id="{1796BC4D-FA3A-4CDF-BFA5-E82C41277BE9}"/>
              </a:ext>
            </a:extLst>
          </p:cNvPr>
          <p:cNvSpPr>
            <a:spLocks noGrp="1"/>
          </p:cNvSpPr>
          <p:nvPr/>
        </p:nvSpPr>
        <p:spPr>
          <a:xfrm>
            <a:off x="6429375" y="5476875"/>
            <a:ext cx="4857750"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Use first-year onboarding, service checks and early-risk outreach.</a:t>
            </a:r>
          </a:p>
        </p:txBody>
      </p:sp>
      <p:graphicFrame>
        <p:nvGraphicFramePr>
          <p:cNvPr id="13" name="Chart 12">
            <a:extLst>
              <a:ext uri="{FF2B5EF4-FFF2-40B4-BE49-F238E27FC236}">
                <a16:creationId xmlns:a16="http://schemas.microsoft.com/office/drawing/2014/main" id="{CCCBF771-BC4A-47CF-A6EF-9972EBE804DA}"/>
              </a:ext>
            </a:extLst>
          </p:cNvPr>
          <p:cNvGraphicFramePr>
            <a:graphicFrameLocks/>
          </p:cNvGraphicFramePr>
          <p:nvPr>
            <p:extLst>
              <p:ext uri="{D42A27DB-BD31-4B8C-83A1-F6EECF244321}">
                <p14:modId xmlns:p14="http://schemas.microsoft.com/office/powerpoint/2010/main" val="1971622917"/>
              </p:ext>
            </p:extLst>
          </p:nvPr>
        </p:nvGraphicFramePr>
        <p:xfrm>
          <a:off x="1322364" y="1562100"/>
          <a:ext cx="9228406" cy="307419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21714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9AC911D-CF63-4757-AD2B-DBBA6FF6C097}"/>
              </a:ext>
            </a:extLst>
          </p:cNvPr>
          <p:cNvSpPr>
            <a:spLocks noGrp="1"/>
          </p:cNvSpPr>
          <p:nvPr/>
        </p:nvSpPr>
        <p:spPr>
          <a:xfrm>
            <a:off x="0" y="-14068"/>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587F3BCD-03AE-4A5E-B164-80A3DC9DAC21}"/>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28F97B23-354C-4A1C-BCB2-A41C2505A4DB}"/>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TELECOM CUSTOMER CHURN ANALYSIS</a:t>
            </a:r>
          </a:p>
        </p:txBody>
      </p:sp>
      <p:sp>
        <p:nvSpPr>
          <p:cNvPr id="4" name="Rectangle 3">
            <a:extLst>
              <a:ext uri="{FF2B5EF4-FFF2-40B4-BE49-F238E27FC236}">
                <a16:creationId xmlns:a16="http://schemas.microsoft.com/office/drawing/2014/main" id="{51883F3A-61CC-475B-9546-7A6681AA3221}"/>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sz="1950" b="1">
                <a:solidFill>
                  <a:srgbClr val="000000"/>
                </a:solidFill>
              </a:rPr>
              <a:t>Churn increased sharply as monthly charges moved above the low band</a:t>
            </a:r>
          </a:p>
        </p:txBody>
      </p:sp>
      <p:sp>
        <p:nvSpPr>
          <p:cNvPr id="6" name="Rectangle: Rounded Corners 5">
            <a:extLst>
              <a:ext uri="{FF2B5EF4-FFF2-40B4-BE49-F238E27FC236}">
                <a16:creationId xmlns:a16="http://schemas.microsoft.com/office/drawing/2014/main" id="{7ED69B43-582B-4D87-B476-23EB0F03B418}"/>
              </a:ext>
            </a:extLst>
          </p:cNvPr>
          <p:cNvSpPr>
            <a:spLocks noGrp="1"/>
          </p:cNvSpPr>
          <p:nvPr/>
        </p:nvSpPr>
        <p:spPr>
          <a:xfrm>
            <a:off x="523875" y="4810125"/>
            <a:ext cx="11144250" cy="1571625"/>
          </a:xfrm>
          <a:prstGeom prst="roundRect">
            <a:avLst>
              <a:gd name="adj" fmla="val 7273"/>
            </a:avLst>
          </a:prstGeom>
          <a:solidFill>
            <a:srgbClr val="EAF7FD"/>
          </a:solidFill>
          <a:ln w="19050">
            <a:solidFill>
              <a:srgbClr val="2F80B7"/>
            </a:solidFill>
            <a:prstDash val="solid"/>
          </a:ln>
        </p:spPr>
      </p:sp>
      <p:sp>
        <p:nvSpPr>
          <p:cNvPr id="7" name="Rectangle 6">
            <a:extLst>
              <a:ext uri="{FF2B5EF4-FFF2-40B4-BE49-F238E27FC236}">
                <a16:creationId xmlns:a16="http://schemas.microsoft.com/office/drawing/2014/main" id="{FF84BB5A-D136-4C11-95E4-2A95C6177C27}"/>
              </a:ext>
            </a:extLst>
          </p:cNvPr>
          <p:cNvSpPr>
            <a:spLocks noGrp="1"/>
          </p:cNvSpPr>
          <p:nvPr/>
        </p:nvSpPr>
        <p:spPr>
          <a:xfrm>
            <a:off x="6076950" y="5000625"/>
            <a:ext cx="28575" cy="1190625"/>
          </a:xfrm>
          <a:prstGeom prst="rect">
            <a:avLst/>
          </a:prstGeom>
          <a:solidFill>
            <a:srgbClr val="8FD3F4"/>
          </a:solidFill>
          <a:ln w="0">
            <a:solidFill>
              <a:srgbClr val="8FD3F4"/>
            </a:solidFill>
            <a:prstDash val="solid"/>
          </a:ln>
        </p:spPr>
      </p:sp>
      <p:sp>
        <p:nvSpPr>
          <p:cNvPr id="8" name="Rectangle 7">
            <a:extLst>
              <a:ext uri="{FF2B5EF4-FFF2-40B4-BE49-F238E27FC236}">
                <a16:creationId xmlns:a16="http://schemas.microsoft.com/office/drawing/2014/main" id="{2079B667-C9BF-481F-B793-9BAFBEFAAD7B}"/>
              </a:ext>
            </a:extLst>
          </p:cNvPr>
          <p:cNvSpPr>
            <a:spLocks noGrp="1"/>
          </p:cNvSpPr>
          <p:nvPr/>
        </p:nvSpPr>
        <p:spPr>
          <a:xfrm>
            <a:off x="809625" y="5000625"/>
            <a:ext cx="476250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Insight</a:t>
            </a:r>
          </a:p>
        </p:txBody>
      </p:sp>
      <p:sp>
        <p:nvSpPr>
          <p:cNvPr id="9" name="Rectangle 8">
            <a:extLst>
              <a:ext uri="{FF2B5EF4-FFF2-40B4-BE49-F238E27FC236}">
                <a16:creationId xmlns:a16="http://schemas.microsoft.com/office/drawing/2014/main" id="{FC3B37DE-F094-492C-B26E-1BD5EC617AB7}"/>
              </a:ext>
            </a:extLst>
          </p:cNvPr>
          <p:cNvSpPr>
            <a:spLocks noGrp="1"/>
          </p:cNvSpPr>
          <p:nvPr/>
        </p:nvSpPr>
        <p:spPr>
          <a:xfrm>
            <a:off x="809625" y="5476875"/>
            <a:ext cx="4905375"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High-charge groups churned at about 33%, compared with only 10.72% in the low-charge group.</a:t>
            </a:r>
          </a:p>
        </p:txBody>
      </p:sp>
      <p:sp>
        <p:nvSpPr>
          <p:cNvPr id="10" name="Rectangle 9">
            <a:extLst>
              <a:ext uri="{FF2B5EF4-FFF2-40B4-BE49-F238E27FC236}">
                <a16:creationId xmlns:a16="http://schemas.microsoft.com/office/drawing/2014/main" id="{5B42CACB-B949-4C0A-AA1D-0BF412C761B7}"/>
              </a:ext>
            </a:extLst>
          </p:cNvPr>
          <p:cNvSpPr>
            <a:spLocks noGrp="1"/>
          </p:cNvSpPr>
          <p:nvPr/>
        </p:nvSpPr>
        <p:spPr>
          <a:xfrm>
            <a:off x="6429375" y="5000625"/>
            <a:ext cx="485775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Recommended action</a:t>
            </a:r>
          </a:p>
        </p:txBody>
      </p:sp>
      <p:sp>
        <p:nvSpPr>
          <p:cNvPr id="11" name="Rectangle 10">
            <a:extLst>
              <a:ext uri="{FF2B5EF4-FFF2-40B4-BE49-F238E27FC236}">
                <a16:creationId xmlns:a16="http://schemas.microsoft.com/office/drawing/2014/main" id="{1B803513-2BEF-424F-918E-DC49191D6C03}"/>
              </a:ext>
            </a:extLst>
          </p:cNvPr>
          <p:cNvSpPr>
            <a:spLocks noGrp="1"/>
          </p:cNvSpPr>
          <p:nvPr/>
        </p:nvSpPr>
        <p:spPr>
          <a:xfrm>
            <a:off x="6429375" y="5476875"/>
            <a:ext cx="4857750"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Offer high-charge customers value reviews and better-sized plans before cancellation.</a:t>
            </a:r>
          </a:p>
        </p:txBody>
      </p:sp>
      <p:graphicFrame>
        <p:nvGraphicFramePr>
          <p:cNvPr id="13" name="Chart 12">
            <a:extLst>
              <a:ext uri="{FF2B5EF4-FFF2-40B4-BE49-F238E27FC236}">
                <a16:creationId xmlns:a16="http://schemas.microsoft.com/office/drawing/2014/main" id="{FE176EA2-858F-481E-A4DE-EAFC3F3E420C}"/>
              </a:ext>
            </a:extLst>
          </p:cNvPr>
          <p:cNvGraphicFramePr>
            <a:graphicFrameLocks/>
          </p:cNvGraphicFramePr>
          <p:nvPr>
            <p:extLst>
              <p:ext uri="{D42A27DB-BD31-4B8C-83A1-F6EECF244321}">
                <p14:modId xmlns:p14="http://schemas.microsoft.com/office/powerpoint/2010/main" val="1739178298"/>
              </p:ext>
            </p:extLst>
          </p:nvPr>
        </p:nvGraphicFramePr>
        <p:xfrm>
          <a:off x="552450" y="1663212"/>
          <a:ext cx="10504756" cy="25550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81055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72772CA-490E-417E-9E3F-CBC51C32A18B}"/>
              </a:ext>
            </a:extLst>
          </p:cNvPr>
          <p:cNvSpPr>
            <a:spLocks noGrp="1"/>
          </p:cNvSpPr>
          <p:nvPr/>
        </p:nvSpPr>
        <p:spPr>
          <a:xfrm>
            <a:off x="0" y="-28136"/>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7FDBC384-9464-4210-985D-6D2EB22D0BC3}"/>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591F82A5-C57B-4467-B273-EAE79A612722}"/>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TELECOM CUSTOMER CHURN ANALYSIS</a:t>
            </a:r>
          </a:p>
        </p:txBody>
      </p:sp>
      <p:sp>
        <p:nvSpPr>
          <p:cNvPr id="4" name="Rectangle 3">
            <a:extLst>
              <a:ext uri="{FF2B5EF4-FFF2-40B4-BE49-F238E27FC236}">
                <a16:creationId xmlns:a16="http://schemas.microsoft.com/office/drawing/2014/main" id="{569B8F85-9D69-4BD1-B29D-9EB48E93BF5F}"/>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sz="1950" b="1">
                <a:solidFill>
                  <a:srgbClr val="000000"/>
                </a:solidFill>
              </a:rPr>
              <a:t>Older customers experienced a higher churn rate than younger groups</a:t>
            </a:r>
          </a:p>
        </p:txBody>
      </p:sp>
      <p:sp>
        <p:nvSpPr>
          <p:cNvPr id="6" name="Rectangle: Rounded Corners 5">
            <a:extLst>
              <a:ext uri="{FF2B5EF4-FFF2-40B4-BE49-F238E27FC236}">
                <a16:creationId xmlns:a16="http://schemas.microsoft.com/office/drawing/2014/main" id="{006EF506-C94D-4B4E-844D-D51F8A18E7E7}"/>
              </a:ext>
            </a:extLst>
          </p:cNvPr>
          <p:cNvSpPr>
            <a:spLocks noGrp="1"/>
          </p:cNvSpPr>
          <p:nvPr/>
        </p:nvSpPr>
        <p:spPr>
          <a:xfrm>
            <a:off x="523875" y="4810125"/>
            <a:ext cx="11144250" cy="1571625"/>
          </a:xfrm>
          <a:prstGeom prst="roundRect">
            <a:avLst>
              <a:gd name="adj" fmla="val 7273"/>
            </a:avLst>
          </a:prstGeom>
          <a:solidFill>
            <a:srgbClr val="EAF7FD"/>
          </a:solidFill>
          <a:ln w="19050">
            <a:solidFill>
              <a:srgbClr val="2F80B7"/>
            </a:solidFill>
            <a:prstDash val="solid"/>
          </a:ln>
        </p:spPr>
      </p:sp>
      <p:sp>
        <p:nvSpPr>
          <p:cNvPr id="7" name="Rectangle 6">
            <a:extLst>
              <a:ext uri="{FF2B5EF4-FFF2-40B4-BE49-F238E27FC236}">
                <a16:creationId xmlns:a16="http://schemas.microsoft.com/office/drawing/2014/main" id="{E100B618-1B0F-4186-B88D-D831E5256BFA}"/>
              </a:ext>
            </a:extLst>
          </p:cNvPr>
          <p:cNvSpPr>
            <a:spLocks noGrp="1"/>
          </p:cNvSpPr>
          <p:nvPr/>
        </p:nvSpPr>
        <p:spPr>
          <a:xfrm>
            <a:off x="6076950" y="5000625"/>
            <a:ext cx="28575" cy="1190625"/>
          </a:xfrm>
          <a:prstGeom prst="rect">
            <a:avLst/>
          </a:prstGeom>
          <a:solidFill>
            <a:srgbClr val="8FD3F4"/>
          </a:solidFill>
          <a:ln w="0">
            <a:solidFill>
              <a:srgbClr val="8FD3F4"/>
            </a:solidFill>
            <a:prstDash val="solid"/>
          </a:ln>
        </p:spPr>
      </p:sp>
      <p:sp>
        <p:nvSpPr>
          <p:cNvPr id="8" name="Rectangle 7">
            <a:extLst>
              <a:ext uri="{FF2B5EF4-FFF2-40B4-BE49-F238E27FC236}">
                <a16:creationId xmlns:a16="http://schemas.microsoft.com/office/drawing/2014/main" id="{7DF7BEF6-A49D-4C1C-847F-FEE26C5CB577}"/>
              </a:ext>
            </a:extLst>
          </p:cNvPr>
          <p:cNvSpPr>
            <a:spLocks noGrp="1"/>
          </p:cNvSpPr>
          <p:nvPr/>
        </p:nvSpPr>
        <p:spPr>
          <a:xfrm>
            <a:off x="809625" y="5000625"/>
            <a:ext cx="476250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Insight</a:t>
            </a:r>
          </a:p>
        </p:txBody>
      </p:sp>
      <p:sp>
        <p:nvSpPr>
          <p:cNvPr id="9" name="Rectangle 8">
            <a:extLst>
              <a:ext uri="{FF2B5EF4-FFF2-40B4-BE49-F238E27FC236}">
                <a16:creationId xmlns:a16="http://schemas.microsoft.com/office/drawing/2014/main" id="{5300837B-57AF-462D-B418-9B6179DB1EB2}"/>
              </a:ext>
            </a:extLst>
          </p:cNvPr>
          <p:cNvSpPr>
            <a:spLocks noGrp="1"/>
          </p:cNvSpPr>
          <p:nvPr/>
        </p:nvSpPr>
        <p:spPr>
          <a:xfrm>
            <a:off x="809625" y="5476875"/>
            <a:ext cx="4905375"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Elderly customers churned at 32.55%, around eight to ten points above the other age groups.</a:t>
            </a:r>
          </a:p>
        </p:txBody>
      </p:sp>
      <p:sp>
        <p:nvSpPr>
          <p:cNvPr id="10" name="Rectangle 9">
            <a:extLst>
              <a:ext uri="{FF2B5EF4-FFF2-40B4-BE49-F238E27FC236}">
                <a16:creationId xmlns:a16="http://schemas.microsoft.com/office/drawing/2014/main" id="{3793A1D4-6B4F-43EC-9D38-005EAA7CEC02}"/>
              </a:ext>
            </a:extLst>
          </p:cNvPr>
          <p:cNvSpPr>
            <a:spLocks noGrp="1"/>
          </p:cNvSpPr>
          <p:nvPr/>
        </p:nvSpPr>
        <p:spPr>
          <a:xfrm>
            <a:off x="6429375" y="5000625"/>
            <a:ext cx="485775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Recommended action</a:t>
            </a:r>
          </a:p>
        </p:txBody>
      </p:sp>
      <p:sp>
        <p:nvSpPr>
          <p:cNvPr id="11" name="Rectangle 10">
            <a:extLst>
              <a:ext uri="{FF2B5EF4-FFF2-40B4-BE49-F238E27FC236}">
                <a16:creationId xmlns:a16="http://schemas.microsoft.com/office/drawing/2014/main" id="{5BE969FC-A0CE-4F2D-B2AA-5207B6415B59}"/>
              </a:ext>
            </a:extLst>
          </p:cNvPr>
          <p:cNvSpPr>
            <a:spLocks noGrp="1"/>
          </p:cNvSpPr>
          <p:nvPr/>
        </p:nvSpPr>
        <p:spPr>
          <a:xfrm>
            <a:off x="6429375" y="5476875"/>
            <a:ext cx="4857750"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Test clearer communication and assisted support for older customers.</a:t>
            </a:r>
          </a:p>
        </p:txBody>
      </p:sp>
      <p:graphicFrame>
        <p:nvGraphicFramePr>
          <p:cNvPr id="13" name="Chart 12">
            <a:extLst>
              <a:ext uri="{FF2B5EF4-FFF2-40B4-BE49-F238E27FC236}">
                <a16:creationId xmlns:a16="http://schemas.microsoft.com/office/drawing/2014/main" id="{C48251F5-2EB6-43CD-A41C-1506F2C8FCF2}"/>
              </a:ext>
            </a:extLst>
          </p:cNvPr>
          <p:cNvGraphicFramePr>
            <a:graphicFrameLocks/>
          </p:cNvGraphicFramePr>
          <p:nvPr>
            <p:extLst>
              <p:ext uri="{D42A27DB-BD31-4B8C-83A1-F6EECF244321}">
                <p14:modId xmlns:p14="http://schemas.microsoft.com/office/powerpoint/2010/main" val="4048077528"/>
              </p:ext>
            </p:extLst>
          </p:nvPr>
        </p:nvGraphicFramePr>
        <p:xfrm>
          <a:off x="552449" y="2057400"/>
          <a:ext cx="10195267"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37872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51C9A8-F07E-4480-8384-AC6E4BE7BBF7}"/>
              </a:ext>
            </a:extLst>
          </p:cNvPr>
          <p:cNvSpPr>
            <a:spLocks noGrp="1"/>
          </p:cNvSpPr>
          <p:nvPr/>
        </p:nvSpPr>
        <p:spPr>
          <a:xfrm>
            <a:off x="0" y="0"/>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55DFA9CE-34AA-4204-B0BA-A1DFA398489B}"/>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27E3DCC5-697C-4E96-BF2C-3AFA7EA47131}"/>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TELECOM CUSTOMER CHURN ANALYSIS</a:t>
            </a:r>
          </a:p>
        </p:txBody>
      </p:sp>
      <p:sp>
        <p:nvSpPr>
          <p:cNvPr id="4" name="Rectangle 3">
            <a:extLst>
              <a:ext uri="{FF2B5EF4-FFF2-40B4-BE49-F238E27FC236}">
                <a16:creationId xmlns:a16="http://schemas.microsoft.com/office/drawing/2014/main" id="{9A752D34-167F-4C65-99A1-5743527B0C13}"/>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sz="1950" b="1">
                <a:solidFill>
                  <a:srgbClr val="000000"/>
                </a:solidFill>
              </a:rPr>
              <a:t>Competitor-related churn accounted for the largest amount of lost customer revenue</a:t>
            </a:r>
          </a:p>
        </p:txBody>
      </p:sp>
      <p:sp>
        <p:nvSpPr>
          <p:cNvPr id="6" name="Rectangle: Rounded Corners 5">
            <a:extLst>
              <a:ext uri="{FF2B5EF4-FFF2-40B4-BE49-F238E27FC236}">
                <a16:creationId xmlns:a16="http://schemas.microsoft.com/office/drawing/2014/main" id="{55E61A71-2DE5-4077-B6ED-CB6324E1479A}"/>
              </a:ext>
            </a:extLst>
          </p:cNvPr>
          <p:cNvSpPr>
            <a:spLocks noGrp="1"/>
          </p:cNvSpPr>
          <p:nvPr/>
        </p:nvSpPr>
        <p:spPr>
          <a:xfrm>
            <a:off x="523875" y="4810125"/>
            <a:ext cx="11144250" cy="1571625"/>
          </a:xfrm>
          <a:prstGeom prst="roundRect">
            <a:avLst>
              <a:gd name="adj" fmla="val 7273"/>
            </a:avLst>
          </a:prstGeom>
          <a:solidFill>
            <a:srgbClr val="EAF7FD"/>
          </a:solidFill>
          <a:ln w="19050">
            <a:solidFill>
              <a:srgbClr val="2F80B7"/>
            </a:solidFill>
            <a:prstDash val="solid"/>
          </a:ln>
        </p:spPr>
      </p:sp>
      <p:sp>
        <p:nvSpPr>
          <p:cNvPr id="7" name="Rectangle 6">
            <a:extLst>
              <a:ext uri="{FF2B5EF4-FFF2-40B4-BE49-F238E27FC236}">
                <a16:creationId xmlns:a16="http://schemas.microsoft.com/office/drawing/2014/main" id="{FFAAC0F3-542A-42A8-91D3-139DF1D32A3B}"/>
              </a:ext>
            </a:extLst>
          </p:cNvPr>
          <p:cNvSpPr>
            <a:spLocks noGrp="1"/>
          </p:cNvSpPr>
          <p:nvPr/>
        </p:nvSpPr>
        <p:spPr>
          <a:xfrm>
            <a:off x="6076950" y="5000625"/>
            <a:ext cx="28575" cy="1190625"/>
          </a:xfrm>
          <a:prstGeom prst="rect">
            <a:avLst/>
          </a:prstGeom>
          <a:solidFill>
            <a:srgbClr val="8FD3F4"/>
          </a:solidFill>
          <a:ln w="0">
            <a:solidFill>
              <a:srgbClr val="8FD3F4"/>
            </a:solidFill>
            <a:prstDash val="solid"/>
          </a:ln>
        </p:spPr>
      </p:sp>
      <p:sp>
        <p:nvSpPr>
          <p:cNvPr id="8" name="Rectangle 7">
            <a:extLst>
              <a:ext uri="{FF2B5EF4-FFF2-40B4-BE49-F238E27FC236}">
                <a16:creationId xmlns:a16="http://schemas.microsoft.com/office/drawing/2014/main" id="{BD39C3A6-0CEB-4E85-AAAD-AF5A69FDCE13}"/>
              </a:ext>
            </a:extLst>
          </p:cNvPr>
          <p:cNvSpPr>
            <a:spLocks noGrp="1"/>
          </p:cNvSpPr>
          <p:nvPr/>
        </p:nvSpPr>
        <p:spPr>
          <a:xfrm>
            <a:off x="809625" y="5000625"/>
            <a:ext cx="476250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Insight</a:t>
            </a:r>
          </a:p>
        </p:txBody>
      </p:sp>
      <p:sp>
        <p:nvSpPr>
          <p:cNvPr id="9" name="Rectangle 8">
            <a:extLst>
              <a:ext uri="{FF2B5EF4-FFF2-40B4-BE49-F238E27FC236}">
                <a16:creationId xmlns:a16="http://schemas.microsoft.com/office/drawing/2014/main" id="{2B2A821E-F93F-4E8A-A923-1E2815FFBE99}"/>
              </a:ext>
            </a:extLst>
          </p:cNvPr>
          <p:cNvSpPr>
            <a:spLocks noGrp="1"/>
          </p:cNvSpPr>
          <p:nvPr/>
        </p:nvSpPr>
        <p:spPr>
          <a:xfrm>
            <a:off x="809625" y="5476875"/>
            <a:ext cx="4905375"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Competitor-related churn represented ₦1.69m. N/A reasons relate mainly to customers who did not churn and were excluded.</a:t>
            </a:r>
          </a:p>
        </p:txBody>
      </p:sp>
      <p:sp>
        <p:nvSpPr>
          <p:cNvPr id="10" name="Rectangle 9">
            <a:extLst>
              <a:ext uri="{FF2B5EF4-FFF2-40B4-BE49-F238E27FC236}">
                <a16:creationId xmlns:a16="http://schemas.microsoft.com/office/drawing/2014/main" id="{C1BE79B0-053A-4780-B901-54417424980B}"/>
              </a:ext>
            </a:extLst>
          </p:cNvPr>
          <p:cNvSpPr>
            <a:spLocks noGrp="1"/>
          </p:cNvSpPr>
          <p:nvPr/>
        </p:nvSpPr>
        <p:spPr>
          <a:xfrm>
            <a:off x="6429375" y="5000625"/>
            <a:ext cx="485775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Recommended action</a:t>
            </a:r>
          </a:p>
        </p:txBody>
      </p:sp>
      <p:sp>
        <p:nvSpPr>
          <p:cNvPr id="11" name="Rectangle 10">
            <a:extLst>
              <a:ext uri="{FF2B5EF4-FFF2-40B4-BE49-F238E27FC236}">
                <a16:creationId xmlns:a16="http://schemas.microsoft.com/office/drawing/2014/main" id="{DC0BD5C5-9AA4-457D-924C-6A5A5BCF305B}"/>
              </a:ext>
            </a:extLst>
          </p:cNvPr>
          <p:cNvSpPr>
            <a:spLocks noGrp="1"/>
          </p:cNvSpPr>
          <p:nvPr/>
        </p:nvSpPr>
        <p:spPr>
          <a:xfrm>
            <a:off x="6429375" y="5476875"/>
            <a:ext cx="4857750"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Benchmark rival devices, data and offers, then build targeted win-back plans.</a:t>
            </a:r>
          </a:p>
        </p:txBody>
      </p:sp>
      <p:graphicFrame>
        <p:nvGraphicFramePr>
          <p:cNvPr id="13" name="Chart 12">
            <a:extLst>
              <a:ext uri="{FF2B5EF4-FFF2-40B4-BE49-F238E27FC236}">
                <a16:creationId xmlns:a16="http://schemas.microsoft.com/office/drawing/2014/main" id="{2F24768D-AB44-4BAA-B816-1DFE246EF8E4}"/>
              </a:ext>
            </a:extLst>
          </p:cNvPr>
          <p:cNvGraphicFramePr>
            <a:graphicFrameLocks/>
          </p:cNvGraphicFramePr>
          <p:nvPr>
            <p:extLst>
              <p:ext uri="{D42A27DB-BD31-4B8C-83A1-F6EECF244321}">
                <p14:modId xmlns:p14="http://schemas.microsoft.com/office/powerpoint/2010/main" val="2294578770"/>
              </p:ext>
            </p:extLst>
          </p:nvPr>
        </p:nvGraphicFramePr>
        <p:xfrm>
          <a:off x="1195753" y="2057400"/>
          <a:ext cx="9903655"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00920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BACBA05-F94F-486D-B40E-922437CDE93F}"/>
              </a:ext>
            </a:extLst>
          </p:cNvPr>
          <p:cNvSpPr>
            <a:spLocks noGrp="1"/>
          </p:cNvSpPr>
          <p:nvPr/>
        </p:nvSpPr>
        <p:spPr>
          <a:xfrm>
            <a:off x="0" y="0"/>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E092964E-E49F-4ABC-99EE-09098F0A28A5}"/>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F8CA8383-7B2E-42E3-8C7F-8A732D22FF39}"/>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TELECOM CUSTOMER CHURN ANALYSIS</a:t>
            </a:r>
          </a:p>
        </p:txBody>
      </p:sp>
      <p:sp>
        <p:nvSpPr>
          <p:cNvPr id="4" name="Rectangle 3">
            <a:extLst>
              <a:ext uri="{FF2B5EF4-FFF2-40B4-BE49-F238E27FC236}">
                <a16:creationId xmlns:a16="http://schemas.microsoft.com/office/drawing/2014/main" id="{3C4D9415-9923-45D3-9C20-31A5533612CE}"/>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sz="1950" b="1">
                <a:solidFill>
                  <a:srgbClr val="000000"/>
                </a:solidFill>
              </a:rPr>
              <a:t>High-data users churned more often than low-data users</a:t>
            </a:r>
          </a:p>
        </p:txBody>
      </p:sp>
      <p:sp>
        <p:nvSpPr>
          <p:cNvPr id="6" name="Rectangle: Rounded Corners 5">
            <a:extLst>
              <a:ext uri="{FF2B5EF4-FFF2-40B4-BE49-F238E27FC236}">
                <a16:creationId xmlns:a16="http://schemas.microsoft.com/office/drawing/2014/main" id="{BF16C43B-5E0D-4EF6-9BFC-C7FA79F6A4AB}"/>
              </a:ext>
            </a:extLst>
          </p:cNvPr>
          <p:cNvSpPr>
            <a:spLocks noGrp="1"/>
          </p:cNvSpPr>
          <p:nvPr/>
        </p:nvSpPr>
        <p:spPr>
          <a:xfrm>
            <a:off x="523875" y="4810125"/>
            <a:ext cx="11144250" cy="1571625"/>
          </a:xfrm>
          <a:prstGeom prst="roundRect">
            <a:avLst>
              <a:gd name="adj" fmla="val 7273"/>
            </a:avLst>
          </a:prstGeom>
          <a:solidFill>
            <a:srgbClr val="EAF7FD"/>
          </a:solidFill>
          <a:ln w="19050">
            <a:solidFill>
              <a:srgbClr val="2F80B7"/>
            </a:solidFill>
            <a:prstDash val="solid"/>
          </a:ln>
        </p:spPr>
      </p:sp>
      <p:sp>
        <p:nvSpPr>
          <p:cNvPr id="7" name="Rectangle 6">
            <a:extLst>
              <a:ext uri="{FF2B5EF4-FFF2-40B4-BE49-F238E27FC236}">
                <a16:creationId xmlns:a16="http://schemas.microsoft.com/office/drawing/2014/main" id="{4E71C63E-71E7-4FDD-8AF6-91E4A9A25F66}"/>
              </a:ext>
            </a:extLst>
          </p:cNvPr>
          <p:cNvSpPr>
            <a:spLocks noGrp="1"/>
          </p:cNvSpPr>
          <p:nvPr/>
        </p:nvSpPr>
        <p:spPr>
          <a:xfrm>
            <a:off x="6076950" y="5000625"/>
            <a:ext cx="28575" cy="1190625"/>
          </a:xfrm>
          <a:prstGeom prst="rect">
            <a:avLst/>
          </a:prstGeom>
          <a:solidFill>
            <a:srgbClr val="8FD3F4"/>
          </a:solidFill>
          <a:ln w="0">
            <a:solidFill>
              <a:srgbClr val="8FD3F4"/>
            </a:solidFill>
            <a:prstDash val="solid"/>
          </a:ln>
        </p:spPr>
      </p:sp>
      <p:sp>
        <p:nvSpPr>
          <p:cNvPr id="8" name="Rectangle 7">
            <a:extLst>
              <a:ext uri="{FF2B5EF4-FFF2-40B4-BE49-F238E27FC236}">
                <a16:creationId xmlns:a16="http://schemas.microsoft.com/office/drawing/2014/main" id="{16F978DE-6716-4CA8-AB5A-BE459D77EA06}"/>
              </a:ext>
            </a:extLst>
          </p:cNvPr>
          <p:cNvSpPr>
            <a:spLocks noGrp="1"/>
          </p:cNvSpPr>
          <p:nvPr/>
        </p:nvSpPr>
        <p:spPr>
          <a:xfrm>
            <a:off x="809625" y="5000625"/>
            <a:ext cx="476250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Insight</a:t>
            </a:r>
          </a:p>
        </p:txBody>
      </p:sp>
      <p:sp>
        <p:nvSpPr>
          <p:cNvPr id="9" name="Rectangle 8">
            <a:extLst>
              <a:ext uri="{FF2B5EF4-FFF2-40B4-BE49-F238E27FC236}">
                <a16:creationId xmlns:a16="http://schemas.microsoft.com/office/drawing/2014/main" id="{EF5BAB8D-4A49-4962-8020-6BA31440020E}"/>
              </a:ext>
            </a:extLst>
          </p:cNvPr>
          <p:cNvSpPr>
            <a:spLocks noGrp="1"/>
          </p:cNvSpPr>
          <p:nvPr/>
        </p:nvSpPr>
        <p:spPr>
          <a:xfrm>
            <a:off x="809625" y="5476875"/>
            <a:ext cx="4905375"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High-data users churned at 34.04%, versus 22.02% among low-data users.</a:t>
            </a:r>
          </a:p>
        </p:txBody>
      </p:sp>
      <p:sp>
        <p:nvSpPr>
          <p:cNvPr id="10" name="Rectangle 9">
            <a:extLst>
              <a:ext uri="{FF2B5EF4-FFF2-40B4-BE49-F238E27FC236}">
                <a16:creationId xmlns:a16="http://schemas.microsoft.com/office/drawing/2014/main" id="{11E5F80C-321C-457C-BC7C-0ABB3DC5CFDC}"/>
              </a:ext>
            </a:extLst>
          </p:cNvPr>
          <p:cNvSpPr>
            <a:spLocks noGrp="1"/>
          </p:cNvSpPr>
          <p:nvPr/>
        </p:nvSpPr>
        <p:spPr>
          <a:xfrm>
            <a:off x="6429375" y="5000625"/>
            <a:ext cx="4857750" cy="361950"/>
          </a:xfrm>
          <a:prstGeom prst="rect">
            <a:avLst/>
          </a:prstGeom>
          <a:noFill/>
          <a:ln w="0">
            <a:noFill/>
            <a:prstDash val="solid"/>
          </a:ln>
        </p:spPr>
        <p:txBody>
          <a:bodyPr/>
          <a:lstStyle/>
          <a:p>
            <a:pPr algn="l">
              <a:defRPr sz="1950" b="1">
                <a:solidFill>
                  <a:srgbClr val="2F80B7"/>
                </a:solidFill>
              </a:defRPr>
            </a:pPr>
            <a:r>
              <a:rPr sz="1950" b="1">
                <a:solidFill>
                  <a:srgbClr val="2F80B7"/>
                </a:solidFill>
              </a:rPr>
              <a:t>Recommended action</a:t>
            </a:r>
          </a:p>
        </p:txBody>
      </p:sp>
      <p:sp>
        <p:nvSpPr>
          <p:cNvPr id="11" name="Rectangle 10">
            <a:extLst>
              <a:ext uri="{FF2B5EF4-FFF2-40B4-BE49-F238E27FC236}">
                <a16:creationId xmlns:a16="http://schemas.microsoft.com/office/drawing/2014/main" id="{FE494B96-8275-4F04-836E-137174F70553}"/>
              </a:ext>
            </a:extLst>
          </p:cNvPr>
          <p:cNvSpPr>
            <a:spLocks noGrp="1"/>
          </p:cNvSpPr>
          <p:nvPr/>
        </p:nvSpPr>
        <p:spPr>
          <a:xfrm>
            <a:off x="6429375" y="5476875"/>
            <a:ext cx="4857750" cy="666750"/>
          </a:xfrm>
          <a:prstGeom prst="rect">
            <a:avLst/>
          </a:prstGeom>
          <a:noFill/>
          <a:ln w="0">
            <a:noFill/>
            <a:prstDash val="solid"/>
          </a:ln>
        </p:spPr>
        <p:txBody>
          <a:bodyPr/>
          <a:lstStyle/>
          <a:p>
            <a:pPr algn="l">
              <a:defRPr sz="1800" b="0">
                <a:solidFill>
                  <a:srgbClr val="000000"/>
                </a:solidFill>
              </a:defRPr>
            </a:pPr>
            <a:r>
              <a:rPr sz="1800" b="0">
                <a:solidFill>
                  <a:srgbClr val="000000"/>
                </a:solidFill>
              </a:rPr>
              <a:t>Monitor heavy users and proactively offer suitable data plans or technical support.</a:t>
            </a:r>
          </a:p>
        </p:txBody>
      </p:sp>
      <p:graphicFrame>
        <p:nvGraphicFramePr>
          <p:cNvPr id="13" name="Chart 12">
            <a:extLst>
              <a:ext uri="{FF2B5EF4-FFF2-40B4-BE49-F238E27FC236}">
                <a16:creationId xmlns:a16="http://schemas.microsoft.com/office/drawing/2014/main" id="{4EC8C212-CD59-4DD1-8BAC-DEBBBFCF74EA}"/>
              </a:ext>
            </a:extLst>
          </p:cNvPr>
          <p:cNvGraphicFramePr>
            <a:graphicFrameLocks/>
          </p:cNvGraphicFramePr>
          <p:nvPr>
            <p:extLst>
              <p:ext uri="{D42A27DB-BD31-4B8C-83A1-F6EECF244321}">
                <p14:modId xmlns:p14="http://schemas.microsoft.com/office/powerpoint/2010/main" val="1149857400"/>
              </p:ext>
            </p:extLst>
          </p:nvPr>
        </p:nvGraphicFramePr>
        <p:xfrm>
          <a:off x="661182" y="2057400"/>
          <a:ext cx="9861452"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88373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BACBA05-F94F-486D-B40E-922437CDE93F}"/>
              </a:ext>
            </a:extLst>
          </p:cNvPr>
          <p:cNvSpPr>
            <a:spLocks noGrp="1"/>
          </p:cNvSpPr>
          <p:nvPr/>
        </p:nvSpPr>
        <p:spPr>
          <a:xfrm>
            <a:off x="0" y="0"/>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E092964E-E49F-4ABC-99EE-09098F0A28A5}"/>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F8CA8383-7B2E-42E3-8C7F-8A732D22FF39}"/>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TELECOM CUSTOMER CHURN ANALYSIS</a:t>
            </a:r>
          </a:p>
        </p:txBody>
      </p:sp>
      <p:sp>
        <p:nvSpPr>
          <p:cNvPr id="4" name="Rectangle 3">
            <a:extLst>
              <a:ext uri="{FF2B5EF4-FFF2-40B4-BE49-F238E27FC236}">
                <a16:creationId xmlns:a16="http://schemas.microsoft.com/office/drawing/2014/main" id="{3C4D9415-9923-45D3-9C20-31A5533612CE}"/>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lang="en-US" sz="1950" b="1" dirty="0">
                <a:solidFill>
                  <a:srgbClr val="000000"/>
                </a:solidFill>
              </a:rPr>
              <a:t>In cities churn rate is higher in tank bus stop</a:t>
            </a:r>
            <a:endParaRPr sz="1950" b="1" dirty="0">
              <a:solidFill>
                <a:srgbClr val="000000"/>
              </a:solidFill>
            </a:endParaRPr>
          </a:p>
        </p:txBody>
      </p:sp>
      <p:graphicFrame>
        <p:nvGraphicFramePr>
          <p:cNvPr id="16" name="Chart"/>
          <p:cNvGraphicFramePr/>
          <p:nvPr/>
        </p:nvGraphicFramePr>
        <p:xfrm>
          <a:off x="666750" y="1619250"/>
          <a:ext cx="1085850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Rounded Corners 5">
            <a:extLst>
              <a:ext uri="{FF2B5EF4-FFF2-40B4-BE49-F238E27FC236}">
                <a16:creationId xmlns:a16="http://schemas.microsoft.com/office/drawing/2014/main" id="{BF16C43B-5E0D-4EF6-9BFC-C7FA79F6A4AB}"/>
              </a:ext>
            </a:extLst>
          </p:cNvPr>
          <p:cNvSpPr>
            <a:spLocks noGrp="1"/>
          </p:cNvSpPr>
          <p:nvPr/>
        </p:nvSpPr>
        <p:spPr>
          <a:xfrm>
            <a:off x="666750" y="4686300"/>
            <a:ext cx="11146708" cy="2026769"/>
          </a:xfrm>
          <a:prstGeom prst="roundRect">
            <a:avLst>
              <a:gd name="adj" fmla="val 7273"/>
            </a:avLst>
          </a:prstGeom>
          <a:solidFill>
            <a:srgbClr val="EAF7FD"/>
          </a:solidFill>
          <a:ln w="19050">
            <a:solidFill>
              <a:srgbClr val="2F80B7"/>
            </a:solidFill>
            <a:prstDash val="solid"/>
          </a:ln>
        </p:spPr>
        <p:txBody>
          <a:bodyPr/>
          <a:lstStyle/>
          <a:p>
            <a:endParaRPr lang="en-US" dirty="0"/>
          </a:p>
        </p:txBody>
      </p:sp>
      <p:sp>
        <p:nvSpPr>
          <p:cNvPr id="7" name="Rectangle 6">
            <a:extLst>
              <a:ext uri="{FF2B5EF4-FFF2-40B4-BE49-F238E27FC236}">
                <a16:creationId xmlns:a16="http://schemas.microsoft.com/office/drawing/2014/main" id="{4E71C63E-71E7-4FDD-8AF6-91E4A9A25F66}"/>
              </a:ext>
            </a:extLst>
          </p:cNvPr>
          <p:cNvSpPr>
            <a:spLocks noGrp="1"/>
          </p:cNvSpPr>
          <p:nvPr/>
        </p:nvSpPr>
        <p:spPr>
          <a:xfrm>
            <a:off x="6076950" y="5000625"/>
            <a:ext cx="28575" cy="1190625"/>
          </a:xfrm>
          <a:prstGeom prst="rect">
            <a:avLst/>
          </a:prstGeom>
          <a:solidFill>
            <a:srgbClr val="8FD3F4"/>
          </a:solidFill>
          <a:ln w="0">
            <a:solidFill>
              <a:srgbClr val="8FD3F4"/>
            </a:solidFill>
            <a:prstDash val="solid"/>
          </a:ln>
        </p:spPr>
      </p:sp>
      <p:sp>
        <p:nvSpPr>
          <p:cNvPr id="8" name="Rectangle 7">
            <a:extLst>
              <a:ext uri="{FF2B5EF4-FFF2-40B4-BE49-F238E27FC236}">
                <a16:creationId xmlns:a16="http://schemas.microsoft.com/office/drawing/2014/main" id="{16F978DE-6716-4CA8-AB5A-BE459D77EA06}"/>
              </a:ext>
            </a:extLst>
          </p:cNvPr>
          <p:cNvSpPr>
            <a:spLocks noGrp="1"/>
          </p:cNvSpPr>
          <p:nvPr/>
        </p:nvSpPr>
        <p:spPr>
          <a:xfrm>
            <a:off x="809625" y="4671055"/>
            <a:ext cx="4762500" cy="691520"/>
          </a:xfrm>
          <a:prstGeom prst="rect">
            <a:avLst/>
          </a:prstGeom>
          <a:noFill/>
          <a:ln w="0">
            <a:noFill/>
            <a:prstDash val="solid"/>
          </a:ln>
        </p:spPr>
        <p:txBody>
          <a:bodyPr/>
          <a:lstStyle/>
          <a:p>
            <a:pPr algn="l">
              <a:defRPr sz="1950" b="1">
                <a:solidFill>
                  <a:srgbClr val="2F80B7"/>
                </a:solidFill>
              </a:defRPr>
            </a:pPr>
            <a:r>
              <a:rPr sz="1950" b="1" dirty="0">
                <a:solidFill>
                  <a:srgbClr val="2F80B7"/>
                </a:solidFill>
              </a:rPr>
              <a:t>Insight</a:t>
            </a:r>
          </a:p>
        </p:txBody>
      </p:sp>
      <p:sp>
        <p:nvSpPr>
          <p:cNvPr id="9" name="Rectangle 8">
            <a:extLst>
              <a:ext uri="{FF2B5EF4-FFF2-40B4-BE49-F238E27FC236}">
                <a16:creationId xmlns:a16="http://schemas.microsoft.com/office/drawing/2014/main" id="{EF5BAB8D-4A49-4962-8020-6BA31440020E}"/>
              </a:ext>
            </a:extLst>
          </p:cNvPr>
          <p:cNvSpPr>
            <a:spLocks noGrp="1"/>
          </p:cNvSpPr>
          <p:nvPr/>
        </p:nvSpPr>
        <p:spPr>
          <a:xfrm>
            <a:off x="809625" y="5476875"/>
            <a:ext cx="4905375" cy="666750"/>
          </a:xfrm>
          <a:prstGeom prst="rect">
            <a:avLst/>
          </a:prstGeom>
          <a:noFill/>
          <a:ln w="0">
            <a:noFill/>
            <a:prstDash val="solid"/>
          </a:ln>
        </p:spPr>
        <p:txBody>
          <a:bodyPr/>
          <a:lstStyle/>
          <a:p>
            <a:pPr algn="l">
              <a:defRPr sz="1800" b="0">
                <a:solidFill>
                  <a:srgbClr val="000000"/>
                </a:solidFill>
              </a:defRPr>
            </a:pPr>
            <a:endParaRPr sz="1800" b="0" dirty="0">
              <a:solidFill>
                <a:srgbClr val="000000"/>
              </a:solidFill>
            </a:endParaRPr>
          </a:p>
        </p:txBody>
      </p:sp>
      <p:sp>
        <p:nvSpPr>
          <p:cNvPr id="10" name="Rectangle 9">
            <a:extLst>
              <a:ext uri="{FF2B5EF4-FFF2-40B4-BE49-F238E27FC236}">
                <a16:creationId xmlns:a16="http://schemas.microsoft.com/office/drawing/2014/main" id="{11E5F80C-321C-457C-BC7C-0ABB3DC5CFDC}"/>
              </a:ext>
            </a:extLst>
          </p:cNvPr>
          <p:cNvSpPr>
            <a:spLocks noGrp="1"/>
          </p:cNvSpPr>
          <p:nvPr/>
        </p:nvSpPr>
        <p:spPr>
          <a:xfrm>
            <a:off x="6429375" y="4743451"/>
            <a:ext cx="4857750" cy="495300"/>
          </a:xfrm>
          <a:prstGeom prst="rect">
            <a:avLst/>
          </a:prstGeom>
          <a:noFill/>
          <a:ln w="0">
            <a:noFill/>
            <a:prstDash val="solid"/>
          </a:ln>
        </p:spPr>
        <p:txBody>
          <a:bodyPr/>
          <a:lstStyle/>
          <a:p>
            <a:pPr algn="l">
              <a:defRPr sz="1950" b="1">
                <a:solidFill>
                  <a:srgbClr val="2F80B7"/>
                </a:solidFill>
              </a:defRPr>
            </a:pPr>
            <a:r>
              <a:rPr sz="1950" b="1" dirty="0">
                <a:solidFill>
                  <a:srgbClr val="2F80B7"/>
                </a:solidFill>
              </a:rPr>
              <a:t>Recommended action</a:t>
            </a:r>
          </a:p>
        </p:txBody>
      </p:sp>
      <p:sp>
        <p:nvSpPr>
          <p:cNvPr id="11" name="Rectangle 10">
            <a:extLst>
              <a:ext uri="{FF2B5EF4-FFF2-40B4-BE49-F238E27FC236}">
                <a16:creationId xmlns:a16="http://schemas.microsoft.com/office/drawing/2014/main" id="{FE494B96-8275-4F04-836E-137174F70553}"/>
              </a:ext>
            </a:extLst>
          </p:cNvPr>
          <p:cNvSpPr>
            <a:spLocks noGrp="1"/>
          </p:cNvSpPr>
          <p:nvPr/>
        </p:nvSpPr>
        <p:spPr>
          <a:xfrm>
            <a:off x="6429375" y="5476875"/>
            <a:ext cx="4857750" cy="666750"/>
          </a:xfrm>
          <a:prstGeom prst="rect">
            <a:avLst/>
          </a:prstGeom>
          <a:noFill/>
          <a:ln w="0">
            <a:noFill/>
            <a:prstDash val="solid"/>
          </a:ln>
        </p:spPr>
        <p:txBody>
          <a:bodyPr/>
          <a:lstStyle/>
          <a:p>
            <a:pPr algn="l">
              <a:defRPr sz="1800" b="0">
                <a:solidFill>
                  <a:srgbClr val="000000"/>
                </a:solidFill>
              </a:defRPr>
            </a:pPr>
            <a:endParaRPr sz="1800" b="0" dirty="0">
              <a:solidFill>
                <a:srgbClr val="000000"/>
              </a:solidFill>
            </a:endParaRPr>
          </a:p>
        </p:txBody>
      </p:sp>
      <p:graphicFrame>
        <p:nvGraphicFramePr>
          <p:cNvPr id="14" name="Chart 13">
            <a:extLst>
              <a:ext uri="{FF2B5EF4-FFF2-40B4-BE49-F238E27FC236}">
                <a16:creationId xmlns:a16="http://schemas.microsoft.com/office/drawing/2014/main" id="{A5F1BF70-9C0D-4180-8476-88126D4AFAAE}"/>
              </a:ext>
            </a:extLst>
          </p:cNvPr>
          <p:cNvGraphicFramePr>
            <a:graphicFrameLocks/>
          </p:cNvGraphicFramePr>
          <p:nvPr>
            <p:extLst>
              <p:ext uri="{D42A27DB-BD31-4B8C-83A1-F6EECF244321}">
                <p14:modId xmlns:p14="http://schemas.microsoft.com/office/powerpoint/2010/main" val="741061762"/>
              </p:ext>
            </p:extLst>
          </p:nvPr>
        </p:nvGraphicFramePr>
        <p:xfrm>
          <a:off x="1184249" y="1724025"/>
          <a:ext cx="10102875"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a:extLst>
              <a:ext uri="{FF2B5EF4-FFF2-40B4-BE49-F238E27FC236}">
                <a16:creationId xmlns:a16="http://schemas.microsoft.com/office/drawing/2014/main" id="{D7ABAE44-E48E-491D-B393-D2FCC76EBFE1}"/>
              </a:ext>
            </a:extLst>
          </p:cNvPr>
          <p:cNvSpPr txBox="1"/>
          <p:nvPr/>
        </p:nvSpPr>
        <p:spPr>
          <a:xfrm>
            <a:off x="723900" y="4958743"/>
            <a:ext cx="4933949" cy="1754326"/>
          </a:xfrm>
          <a:prstGeom prst="rect">
            <a:avLst/>
          </a:prstGeom>
          <a:noFill/>
        </p:spPr>
        <p:txBody>
          <a:bodyPr wrap="square" rtlCol="0">
            <a:spAutoFit/>
          </a:bodyPr>
          <a:lstStyle/>
          <a:p>
            <a:r>
              <a:rPr lang="en-US" dirty="0"/>
              <a:t>Tank Bus Stop recorded the highest churn rate at 34.55%, while </a:t>
            </a:r>
            <a:r>
              <a:rPr lang="en-US" dirty="0" err="1"/>
              <a:t>Isiokpo</a:t>
            </a:r>
            <a:r>
              <a:rPr lang="en-US" dirty="0"/>
              <a:t> had the lowest at 19.64%. This is a difference of approximately 14.91 percentage points, showing that customer retention varied considerably across the selected location</a:t>
            </a:r>
          </a:p>
        </p:txBody>
      </p:sp>
      <p:sp>
        <p:nvSpPr>
          <p:cNvPr id="15" name="TextBox 14">
            <a:extLst>
              <a:ext uri="{FF2B5EF4-FFF2-40B4-BE49-F238E27FC236}">
                <a16:creationId xmlns:a16="http://schemas.microsoft.com/office/drawing/2014/main" id="{5054AA22-1536-4BEC-AB4A-411D45EFF54C}"/>
              </a:ext>
            </a:extLst>
          </p:cNvPr>
          <p:cNvSpPr txBox="1"/>
          <p:nvPr/>
        </p:nvSpPr>
        <p:spPr>
          <a:xfrm>
            <a:off x="6285120" y="5210085"/>
            <a:ext cx="5194349" cy="1200329"/>
          </a:xfrm>
          <a:prstGeom prst="rect">
            <a:avLst/>
          </a:prstGeom>
          <a:noFill/>
        </p:spPr>
        <p:txBody>
          <a:bodyPr wrap="square" rtlCol="0">
            <a:spAutoFit/>
          </a:bodyPr>
          <a:lstStyle/>
          <a:p>
            <a:r>
              <a:rPr lang="en-US" dirty="0"/>
              <a:t>Investigate service quality, network coverage, pricing complaints and competitor activity around Tank Bus Stop and </a:t>
            </a:r>
            <a:r>
              <a:rPr lang="en-US" dirty="0" err="1"/>
              <a:t>Abuloma</a:t>
            </a:r>
            <a:r>
              <a:rPr lang="en-US" dirty="0"/>
              <a:t>. Retention campaigns should be </a:t>
            </a:r>
            <a:r>
              <a:rPr lang="en-US" dirty="0" err="1"/>
              <a:t>prioritised</a:t>
            </a:r>
            <a:r>
              <a:rPr lang="en-US" dirty="0"/>
              <a:t> in these higher-churn locations.</a:t>
            </a:r>
          </a:p>
        </p:txBody>
      </p:sp>
    </p:spTree>
    <p:extLst>
      <p:ext uri="{BB962C8B-B14F-4D97-AF65-F5344CB8AC3E}">
        <p14:creationId xmlns:p14="http://schemas.microsoft.com/office/powerpoint/2010/main" val="1465809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1A05E6-A354-4F7B-B738-DB0DDBFB59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90019"/>
            <a:ext cx="12192000" cy="5277962"/>
          </a:xfrm>
          <a:prstGeom prst="rect">
            <a:avLst/>
          </a:prstGeom>
        </p:spPr>
      </p:pic>
      <p:sp>
        <p:nvSpPr>
          <p:cNvPr id="4" name="TextBox 3">
            <a:extLst>
              <a:ext uri="{FF2B5EF4-FFF2-40B4-BE49-F238E27FC236}">
                <a16:creationId xmlns:a16="http://schemas.microsoft.com/office/drawing/2014/main" id="{45B89076-E653-420C-B036-0C74DE85DDEA}"/>
              </a:ext>
            </a:extLst>
          </p:cNvPr>
          <p:cNvSpPr txBox="1"/>
          <p:nvPr/>
        </p:nvSpPr>
        <p:spPr>
          <a:xfrm>
            <a:off x="548640" y="216935"/>
            <a:ext cx="3798277" cy="382056"/>
          </a:xfrm>
          <a:prstGeom prst="rect">
            <a:avLst/>
          </a:prstGeom>
          <a:noFill/>
        </p:spPr>
        <p:txBody>
          <a:bodyPr wrap="square" rtlCol="0">
            <a:spAutoFit/>
          </a:bodyPr>
          <a:lstStyle/>
          <a:p>
            <a:r>
              <a:rPr lang="en-US" dirty="0"/>
              <a:t>DASHBOARD</a:t>
            </a:r>
          </a:p>
        </p:txBody>
      </p:sp>
    </p:spTree>
    <p:extLst>
      <p:ext uri="{BB962C8B-B14F-4D97-AF65-F5344CB8AC3E}">
        <p14:creationId xmlns:p14="http://schemas.microsoft.com/office/powerpoint/2010/main" val="1789293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BC6CF3E-6643-40D5-9B3D-010B82073209}"/>
              </a:ext>
            </a:extLst>
          </p:cNvPr>
          <p:cNvSpPr>
            <a:spLocks noGrp="1"/>
          </p:cNvSpPr>
          <p:nvPr/>
        </p:nvSpPr>
        <p:spPr>
          <a:xfrm>
            <a:off x="0" y="0"/>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2BB7C166-882A-44C9-934C-171C744FD804}"/>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53C4A110-2C9C-45C1-8399-44856D0D27BA}"/>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OVERALL INSIGHTS</a:t>
            </a:r>
          </a:p>
        </p:txBody>
      </p:sp>
      <p:sp>
        <p:nvSpPr>
          <p:cNvPr id="4" name="Rectangle 3">
            <a:extLst>
              <a:ext uri="{FF2B5EF4-FFF2-40B4-BE49-F238E27FC236}">
                <a16:creationId xmlns:a16="http://schemas.microsoft.com/office/drawing/2014/main" id="{C15DF533-5638-4FF0-8129-6BB33E0B5A7C}"/>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sz="1950" b="1">
                <a:solidFill>
                  <a:srgbClr val="000000"/>
                </a:solidFill>
              </a:rPr>
              <a:t>Churn is concentrated in customers facing weak commitment, early-tenure risk and service pressure</a:t>
            </a:r>
          </a:p>
        </p:txBody>
      </p:sp>
      <p:sp>
        <p:nvSpPr>
          <p:cNvPr id="5" name="Rectangle: Rounded Corners 4">
            <a:extLst>
              <a:ext uri="{FF2B5EF4-FFF2-40B4-BE49-F238E27FC236}">
                <a16:creationId xmlns:a16="http://schemas.microsoft.com/office/drawing/2014/main" id="{769B590E-EB3D-402A-A81C-4BFAF7CF54B0}"/>
              </a:ext>
            </a:extLst>
          </p:cNvPr>
          <p:cNvSpPr>
            <a:spLocks noGrp="1"/>
          </p:cNvSpPr>
          <p:nvPr/>
        </p:nvSpPr>
        <p:spPr>
          <a:xfrm>
            <a:off x="523875" y="1619250"/>
            <a:ext cx="11144250" cy="838200"/>
          </a:xfrm>
          <a:prstGeom prst="roundRect">
            <a:avLst>
              <a:gd name="adj" fmla="val 13636"/>
            </a:avLst>
          </a:prstGeom>
          <a:solidFill>
            <a:srgbClr val="EAF7FD"/>
          </a:solidFill>
          <a:ln w="19050">
            <a:solidFill>
              <a:srgbClr val="EAF7FD"/>
            </a:solidFill>
            <a:prstDash val="solid"/>
          </a:ln>
        </p:spPr>
      </p:sp>
      <p:sp>
        <p:nvSpPr>
          <p:cNvPr id="6" name="Rectangle 5">
            <a:extLst>
              <a:ext uri="{FF2B5EF4-FFF2-40B4-BE49-F238E27FC236}">
                <a16:creationId xmlns:a16="http://schemas.microsoft.com/office/drawing/2014/main" id="{AA123F09-6A21-4520-BFE6-8D121DD640F2}"/>
              </a:ext>
            </a:extLst>
          </p:cNvPr>
          <p:cNvSpPr>
            <a:spLocks noGrp="1"/>
          </p:cNvSpPr>
          <p:nvPr/>
        </p:nvSpPr>
        <p:spPr>
          <a:xfrm>
            <a:off x="742950" y="180975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01</a:t>
            </a:r>
          </a:p>
        </p:txBody>
      </p:sp>
      <p:sp>
        <p:nvSpPr>
          <p:cNvPr id="7" name="Rectangle 6">
            <a:extLst>
              <a:ext uri="{FF2B5EF4-FFF2-40B4-BE49-F238E27FC236}">
                <a16:creationId xmlns:a16="http://schemas.microsoft.com/office/drawing/2014/main" id="{1B137789-D13E-42A0-A229-E02AF649B8C0}"/>
              </a:ext>
            </a:extLst>
          </p:cNvPr>
          <p:cNvSpPr>
            <a:spLocks noGrp="1"/>
          </p:cNvSpPr>
          <p:nvPr/>
        </p:nvSpPr>
        <p:spPr>
          <a:xfrm>
            <a:off x="1381125" y="174307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The churn problem is material</a:t>
            </a:r>
          </a:p>
        </p:txBody>
      </p:sp>
      <p:sp>
        <p:nvSpPr>
          <p:cNvPr id="8" name="Rectangle 7">
            <a:extLst>
              <a:ext uri="{FF2B5EF4-FFF2-40B4-BE49-F238E27FC236}">
                <a16:creationId xmlns:a16="http://schemas.microsoft.com/office/drawing/2014/main" id="{66956C18-DB5D-4B72-8C44-F9AA5FD9650B}"/>
              </a:ext>
            </a:extLst>
          </p:cNvPr>
          <p:cNvSpPr>
            <a:spLocks noGrp="1"/>
          </p:cNvSpPr>
          <p:nvPr/>
        </p:nvSpPr>
        <p:spPr>
          <a:xfrm>
            <a:off x="4953000" y="174307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1,869 customers churned, producing an overall churn rate of 26.54%.</a:t>
            </a:r>
          </a:p>
        </p:txBody>
      </p:sp>
      <p:sp>
        <p:nvSpPr>
          <p:cNvPr id="9" name="Rectangle 8">
            <a:extLst>
              <a:ext uri="{FF2B5EF4-FFF2-40B4-BE49-F238E27FC236}">
                <a16:creationId xmlns:a16="http://schemas.microsoft.com/office/drawing/2014/main" id="{40353DB6-D8F4-4FE1-B4FC-10CC1D0C46DA}"/>
              </a:ext>
            </a:extLst>
          </p:cNvPr>
          <p:cNvSpPr>
            <a:spLocks noGrp="1"/>
          </p:cNvSpPr>
          <p:nvPr/>
        </p:nvSpPr>
        <p:spPr>
          <a:xfrm>
            <a:off x="742950" y="274320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02</a:t>
            </a:r>
          </a:p>
        </p:txBody>
      </p:sp>
      <p:sp>
        <p:nvSpPr>
          <p:cNvPr id="10" name="Rectangle 9">
            <a:extLst>
              <a:ext uri="{FF2B5EF4-FFF2-40B4-BE49-F238E27FC236}">
                <a16:creationId xmlns:a16="http://schemas.microsoft.com/office/drawing/2014/main" id="{4D796F1E-2F00-4C5A-8580-7C6D436B33DF}"/>
              </a:ext>
            </a:extLst>
          </p:cNvPr>
          <p:cNvSpPr>
            <a:spLocks noGrp="1"/>
          </p:cNvSpPr>
          <p:nvPr/>
        </p:nvSpPr>
        <p:spPr>
          <a:xfrm>
            <a:off x="1381125" y="267652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Commitment strongly matters</a:t>
            </a:r>
          </a:p>
        </p:txBody>
      </p:sp>
      <p:sp>
        <p:nvSpPr>
          <p:cNvPr id="11" name="Rectangle 10">
            <a:extLst>
              <a:ext uri="{FF2B5EF4-FFF2-40B4-BE49-F238E27FC236}">
                <a16:creationId xmlns:a16="http://schemas.microsoft.com/office/drawing/2014/main" id="{AB98A675-1C8D-4754-8172-BCBAB9B7DEB8}"/>
              </a:ext>
            </a:extLst>
          </p:cNvPr>
          <p:cNvSpPr>
            <a:spLocks noGrp="1"/>
          </p:cNvSpPr>
          <p:nvPr/>
        </p:nvSpPr>
        <p:spPr>
          <a:xfrm>
            <a:off x="4953000" y="267652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Month-to-month churn was 45.84%, while two-year churn was only 2.55%.</a:t>
            </a:r>
          </a:p>
        </p:txBody>
      </p:sp>
      <p:sp>
        <p:nvSpPr>
          <p:cNvPr id="12" name="Rectangle: Rounded Corners 11">
            <a:extLst>
              <a:ext uri="{FF2B5EF4-FFF2-40B4-BE49-F238E27FC236}">
                <a16:creationId xmlns:a16="http://schemas.microsoft.com/office/drawing/2014/main" id="{0460AE20-FBA7-46D1-A377-0EA35B253A5C}"/>
              </a:ext>
            </a:extLst>
          </p:cNvPr>
          <p:cNvSpPr>
            <a:spLocks noGrp="1"/>
          </p:cNvSpPr>
          <p:nvPr/>
        </p:nvSpPr>
        <p:spPr>
          <a:xfrm>
            <a:off x="523875" y="3486150"/>
            <a:ext cx="11144250" cy="838200"/>
          </a:xfrm>
          <a:prstGeom prst="roundRect">
            <a:avLst>
              <a:gd name="adj" fmla="val 13636"/>
            </a:avLst>
          </a:prstGeom>
          <a:solidFill>
            <a:srgbClr val="EAF7FD"/>
          </a:solidFill>
          <a:ln w="19050">
            <a:solidFill>
              <a:srgbClr val="EAF7FD"/>
            </a:solidFill>
            <a:prstDash val="solid"/>
          </a:ln>
        </p:spPr>
      </p:sp>
      <p:sp>
        <p:nvSpPr>
          <p:cNvPr id="13" name="Rectangle 12">
            <a:extLst>
              <a:ext uri="{FF2B5EF4-FFF2-40B4-BE49-F238E27FC236}">
                <a16:creationId xmlns:a16="http://schemas.microsoft.com/office/drawing/2014/main" id="{02432ED7-464A-4E31-ADCB-7FEAACE7F9E6}"/>
              </a:ext>
            </a:extLst>
          </p:cNvPr>
          <p:cNvSpPr>
            <a:spLocks noGrp="1"/>
          </p:cNvSpPr>
          <p:nvPr/>
        </p:nvSpPr>
        <p:spPr>
          <a:xfrm>
            <a:off x="742950" y="367665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03</a:t>
            </a:r>
          </a:p>
        </p:txBody>
      </p:sp>
      <p:sp>
        <p:nvSpPr>
          <p:cNvPr id="14" name="Rectangle 13">
            <a:extLst>
              <a:ext uri="{FF2B5EF4-FFF2-40B4-BE49-F238E27FC236}">
                <a16:creationId xmlns:a16="http://schemas.microsoft.com/office/drawing/2014/main" id="{98822D0F-1C70-4FC1-9EDC-6E19CD3E2D02}"/>
              </a:ext>
            </a:extLst>
          </p:cNvPr>
          <p:cNvSpPr>
            <a:spLocks noGrp="1"/>
          </p:cNvSpPr>
          <p:nvPr/>
        </p:nvSpPr>
        <p:spPr>
          <a:xfrm>
            <a:off x="1381125" y="360997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Early tenure is critical</a:t>
            </a:r>
          </a:p>
        </p:txBody>
      </p:sp>
      <p:sp>
        <p:nvSpPr>
          <p:cNvPr id="15" name="Rectangle 14">
            <a:extLst>
              <a:ext uri="{FF2B5EF4-FFF2-40B4-BE49-F238E27FC236}">
                <a16:creationId xmlns:a16="http://schemas.microsoft.com/office/drawing/2014/main" id="{A85509B2-6BDB-47AF-B0DD-89BD2BA63C04}"/>
              </a:ext>
            </a:extLst>
          </p:cNvPr>
          <p:cNvSpPr>
            <a:spLocks noGrp="1"/>
          </p:cNvSpPr>
          <p:nvPr/>
        </p:nvSpPr>
        <p:spPr>
          <a:xfrm>
            <a:off x="4953000" y="360997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New customers churned at 47.44%; stayed customers averaged 41 months of tenure.</a:t>
            </a:r>
          </a:p>
        </p:txBody>
      </p:sp>
      <p:sp>
        <p:nvSpPr>
          <p:cNvPr id="16" name="Rectangle 15">
            <a:extLst>
              <a:ext uri="{FF2B5EF4-FFF2-40B4-BE49-F238E27FC236}">
                <a16:creationId xmlns:a16="http://schemas.microsoft.com/office/drawing/2014/main" id="{75179FD7-E043-414F-AC77-0D47D065232E}"/>
              </a:ext>
            </a:extLst>
          </p:cNvPr>
          <p:cNvSpPr>
            <a:spLocks noGrp="1"/>
          </p:cNvSpPr>
          <p:nvPr/>
        </p:nvSpPr>
        <p:spPr>
          <a:xfrm>
            <a:off x="742950" y="461010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04</a:t>
            </a:r>
          </a:p>
        </p:txBody>
      </p:sp>
      <p:sp>
        <p:nvSpPr>
          <p:cNvPr id="17" name="Rectangle 16">
            <a:extLst>
              <a:ext uri="{FF2B5EF4-FFF2-40B4-BE49-F238E27FC236}">
                <a16:creationId xmlns:a16="http://schemas.microsoft.com/office/drawing/2014/main" id="{E335985A-D799-4ED9-93DA-2B7998E74EAC}"/>
              </a:ext>
            </a:extLst>
          </p:cNvPr>
          <p:cNvSpPr>
            <a:spLocks noGrp="1"/>
          </p:cNvSpPr>
          <p:nvPr/>
        </p:nvSpPr>
        <p:spPr>
          <a:xfrm>
            <a:off x="1381125" y="454342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Fibre requires attention</a:t>
            </a:r>
          </a:p>
        </p:txBody>
      </p:sp>
      <p:sp>
        <p:nvSpPr>
          <p:cNvPr id="18" name="Rectangle 17">
            <a:extLst>
              <a:ext uri="{FF2B5EF4-FFF2-40B4-BE49-F238E27FC236}">
                <a16:creationId xmlns:a16="http://schemas.microsoft.com/office/drawing/2014/main" id="{7EB6AFB8-6736-4813-9321-9EA345D8A8BF}"/>
              </a:ext>
            </a:extLst>
          </p:cNvPr>
          <p:cNvSpPr>
            <a:spLocks noGrp="1"/>
          </p:cNvSpPr>
          <p:nvPr/>
        </p:nvSpPr>
        <p:spPr>
          <a:xfrm>
            <a:off x="4953000" y="454342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Fibre-optic churn reached 40.72%, the highest among active internet types.</a:t>
            </a:r>
          </a:p>
        </p:txBody>
      </p:sp>
      <p:sp>
        <p:nvSpPr>
          <p:cNvPr id="19" name="Rectangle: Rounded Corners 18">
            <a:extLst>
              <a:ext uri="{FF2B5EF4-FFF2-40B4-BE49-F238E27FC236}">
                <a16:creationId xmlns:a16="http://schemas.microsoft.com/office/drawing/2014/main" id="{011576AC-4874-4BBB-B58F-0B1131708E12}"/>
              </a:ext>
            </a:extLst>
          </p:cNvPr>
          <p:cNvSpPr>
            <a:spLocks noGrp="1"/>
          </p:cNvSpPr>
          <p:nvPr/>
        </p:nvSpPr>
        <p:spPr>
          <a:xfrm>
            <a:off x="523875" y="5353050"/>
            <a:ext cx="11144250" cy="838200"/>
          </a:xfrm>
          <a:prstGeom prst="roundRect">
            <a:avLst>
              <a:gd name="adj" fmla="val 13636"/>
            </a:avLst>
          </a:prstGeom>
          <a:solidFill>
            <a:srgbClr val="EAF7FD"/>
          </a:solidFill>
          <a:ln w="19050">
            <a:solidFill>
              <a:srgbClr val="EAF7FD"/>
            </a:solidFill>
            <a:prstDash val="solid"/>
          </a:ln>
        </p:spPr>
      </p:sp>
      <p:sp>
        <p:nvSpPr>
          <p:cNvPr id="20" name="Rectangle 19">
            <a:extLst>
              <a:ext uri="{FF2B5EF4-FFF2-40B4-BE49-F238E27FC236}">
                <a16:creationId xmlns:a16="http://schemas.microsoft.com/office/drawing/2014/main" id="{E7641397-4332-4150-9C51-8555BA0D1335}"/>
              </a:ext>
            </a:extLst>
          </p:cNvPr>
          <p:cNvSpPr>
            <a:spLocks noGrp="1"/>
          </p:cNvSpPr>
          <p:nvPr/>
        </p:nvSpPr>
        <p:spPr>
          <a:xfrm>
            <a:off x="742950" y="554355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05</a:t>
            </a:r>
          </a:p>
        </p:txBody>
      </p:sp>
      <p:sp>
        <p:nvSpPr>
          <p:cNvPr id="21" name="Rectangle 20">
            <a:extLst>
              <a:ext uri="{FF2B5EF4-FFF2-40B4-BE49-F238E27FC236}">
                <a16:creationId xmlns:a16="http://schemas.microsoft.com/office/drawing/2014/main" id="{CB4E70A0-8117-4D4B-8CDB-D496D8664AFF}"/>
              </a:ext>
            </a:extLst>
          </p:cNvPr>
          <p:cNvSpPr>
            <a:spLocks noGrp="1"/>
          </p:cNvSpPr>
          <p:nvPr/>
        </p:nvSpPr>
        <p:spPr>
          <a:xfrm>
            <a:off x="1381125" y="547687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Value and competition drive risk</a:t>
            </a:r>
          </a:p>
        </p:txBody>
      </p:sp>
      <p:sp>
        <p:nvSpPr>
          <p:cNvPr id="22" name="Rectangle 21">
            <a:extLst>
              <a:ext uri="{FF2B5EF4-FFF2-40B4-BE49-F238E27FC236}">
                <a16:creationId xmlns:a16="http://schemas.microsoft.com/office/drawing/2014/main" id="{DC349DB9-7EE6-4688-9B05-78C1E2E2BD90}"/>
              </a:ext>
            </a:extLst>
          </p:cNvPr>
          <p:cNvSpPr>
            <a:spLocks noGrp="1"/>
          </p:cNvSpPr>
          <p:nvPr/>
        </p:nvSpPr>
        <p:spPr>
          <a:xfrm>
            <a:off x="4953000" y="547687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High charges, heavy data use and competitor-related losses point to a value-experience gap.</a:t>
            </a:r>
          </a:p>
        </p:txBody>
      </p:sp>
    </p:spTree>
    <p:extLst>
      <p:ext uri="{BB962C8B-B14F-4D97-AF65-F5344CB8AC3E}">
        <p14:creationId xmlns:p14="http://schemas.microsoft.com/office/powerpoint/2010/main" val="244515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4F736B7-7F41-456A-AB71-99D59F1DF0B6}"/>
              </a:ext>
            </a:extLst>
          </p:cNvPr>
          <p:cNvSpPr>
            <a:spLocks noGrp="1"/>
          </p:cNvSpPr>
          <p:nvPr/>
        </p:nvSpPr>
        <p:spPr>
          <a:xfrm>
            <a:off x="0" y="0"/>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50EF7AAF-0E21-4AD2-AC36-F8D74013170B}"/>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B5B8109A-7A73-4288-8DB7-ACB5AB362E1B}"/>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RECOMMENDATIONS</a:t>
            </a:r>
          </a:p>
        </p:txBody>
      </p:sp>
      <p:sp>
        <p:nvSpPr>
          <p:cNvPr id="4" name="Rectangle 3">
            <a:extLst>
              <a:ext uri="{FF2B5EF4-FFF2-40B4-BE49-F238E27FC236}">
                <a16:creationId xmlns:a16="http://schemas.microsoft.com/office/drawing/2014/main" id="{C9A50CA6-581B-439B-B979-37048953B96A}"/>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lang="en-US" sz="1950" b="1" dirty="0">
                <a:solidFill>
                  <a:srgbClr val="000000"/>
                </a:solidFill>
              </a:rPr>
              <a:t>Six </a:t>
            </a:r>
            <a:r>
              <a:rPr sz="1950" b="1" dirty="0">
                <a:solidFill>
                  <a:srgbClr val="000000"/>
                </a:solidFill>
              </a:rPr>
              <a:t>actions should form the core of the retention </a:t>
            </a:r>
            <a:r>
              <a:rPr sz="1950" b="1" dirty="0" err="1">
                <a:solidFill>
                  <a:srgbClr val="000000"/>
                </a:solidFill>
              </a:rPr>
              <a:t>programme</a:t>
            </a:r>
            <a:endParaRPr sz="1950" b="1" dirty="0">
              <a:solidFill>
                <a:srgbClr val="000000"/>
              </a:solidFill>
            </a:endParaRPr>
          </a:p>
        </p:txBody>
      </p:sp>
      <p:sp>
        <p:nvSpPr>
          <p:cNvPr id="5" name="Rectangle: Rounded Corners 4">
            <a:extLst>
              <a:ext uri="{FF2B5EF4-FFF2-40B4-BE49-F238E27FC236}">
                <a16:creationId xmlns:a16="http://schemas.microsoft.com/office/drawing/2014/main" id="{1D1D932F-6E47-4114-949D-75DC7A413F29}"/>
              </a:ext>
            </a:extLst>
          </p:cNvPr>
          <p:cNvSpPr>
            <a:spLocks noGrp="1"/>
          </p:cNvSpPr>
          <p:nvPr/>
        </p:nvSpPr>
        <p:spPr>
          <a:xfrm>
            <a:off x="523875" y="1619250"/>
            <a:ext cx="11144250" cy="838200"/>
          </a:xfrm>
          <a:prstGeom prst="roundRect">
            <a:avLst>
              <a:gd name="adj" fmla="val 13636"/>
            </a:avLst>
          </a:prstGeom>
          <a:solidFill>
            <a:srgbClr val="EAF7FD"/>
          </a:solidFill>
          <a:ln w="19050">
            <a:solidFill>
              <a:srgbClr val="EAF7FD"/>
            </a:solidFill>
            <a:prstDash val="solid"/>
          </a:ln>
        </p:spPr>
      </p:sp>
      <p:sp>
        <p:nvSpPr>
          <p:cNvPr id="6" name="Rectangle 5">
            <a:extLst>
              <a:ext uri="{FF2B5EF4-FFF2-40B4-BE49-F238E27FC236}">
                <a16:creationId xmlns:a16="http://schemas.microsoft.com/office/drawing/2014/main" id="{DEE63DD2-64D7-4555-909E-82F266C460F8}"/>
              </a:ext>
            </a:extLst>
          </p:cNvPr>
          <p:cNvSpPr>
            <a:spLocks noGrp="1"/>
          </p:cNvSpPr>
          <p:nvPr/>
        </p:nvSpPr>
        <p:spPr>
          <a:xfrm>
            <a:off x="742950" y="180975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01</a:t>
            </a:r>
          </a:p>
        </p:txBody>
      </p:sp>
      <p:sp>
        <p:nvSpPr>
          <p:cNvPr id="7" name="Rectangle 6">
            <a:extLst>
              <a:ext uri="{FF2B5EF4-FFF2-40B4-BE49-F238E27FC236}">
                <a16:creationId xmlns:a16="http://schemas.microsoft.com/office/drawing/2014/main" id="{8DDA5706-9270-4724-9CC7-E26178649D69}"/>
              </a:ext>
            </a:extLst>
          </p:cNvPr>
          <p:cNvSpPr>
            <a:spLocks noGrp="1"/>
          </p:cNvSpPr>
          <p:nvPr/>
        </p:nvSpPr>
        <p:spPr>
          <a:xfrm>
            <a:off x="1381125" y="174307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Strengthen onboarding</a:t>
            </a:r>
          </a:p>
        </p:txBody>
      </p:sp>
      <p:sp>
        <p:nvSpPr>
          <p:cNvPr id="8" name="Rectangle 7">
            <a:extLst>
              <a:ext uri="{FF2B5EF4-FFF2-40B4-BE49-F238E27FC236}">
                <a16:creationId xmlns:a16="http://schemas.microsoft.com/office/drawing/2014/main" id="{5F21F14B-C81B-4F3E-A132-25550353AC82}"/>
              </a:ext>
            </a:extLst>
          </p:cNvPr>
          <p:cNvSpPr>
            <a:spLocks noGrp="1"/>
          </p:cNvSpPr>
          <p:nvPr/>
        </p:nvSpPr>
        <p:spPr>
          <a:xfrm>
            <a:off x="4953000" y="174307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Contact new customers early and resolve setup or service difficulties quickly.</a:t>
            </a:r>
          </a:p>
        </p:txBody>
      </p:sp>
      <p:sp>
        <p:nvSpPr>
          <p:cNvPr id="9" name="Rectangle 8">
            <a:extLst>
              <a:ext uri="{FF2B5EF4-FFF2-40B4-BE49-F238E27FC236}">
                <a16:creationId xmlns:a16="http://schemas.microsoft.com/office/drawing/2014/main" id="{39EAC821-9B31-4F23-BAD6-B4A903625F99}"/>
              </a:ext>
            </a:extLst>
          </p:cNvPr>
          <p:cNvSpPr>
            <a:spLocks noGrp="1"/>
          </p:cNvSpPr>
          <p:nvPr/>
        </p:nvSpPr>
        <p:spPr>
          <a:xfrm>
            <a:off x="742950" y="274320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02</a:t>
            </a:r>
          </a:p>
        </p:txBody>
      </p:sp>
      <p:sp>
        <p:nvSpPr>
          <p:cNvPr id="10" name="Rectangle 9">
            <a:extLst>
              <a:ext uri="{FF2B5EF4-FFF2-40B4-BE49-F238E27FC236}">
                <a16:creationId xmlns:a16="http://schemas.microsoft.com/office/drawing/2014/main" id="{62F0BD75-D367-4802-9863-E1EAAD655B72}"/>
              </a:ext>
            </a:extLst>
          </p:cNvPr>
          <p:cNvSpPr>
            <a:spLocks noGrp="1"/>
          </p:cNvSpPr>
          <p:nvPr/>
        </p:nvSpPr>
        <p:spPr>
          <a:xfrm>
            <a:off x="1381125" y="267652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Convert suitable contracts</a:t>
            </a:r>
          </a:p>
        </p:txBody>
      </p:sp>
      <p:sp>
        <p:nvSpPr>
          <p:cNvPr id="11" name="Rectangle 10">
            <a:extLst>
              <a:ext uri="{FF2B5EF4-FFF2-40B4-BE49-F238E27FC236}">
                <a16:creationId xmlns:a16="http://schemas.microsoft.com/office/drawing/2014/main" id="{9D48DFE4-3979-4512-933E-4D71CE269379}"/>
              </a:ext>
            </a:extLst>
          </p:cNvPr>
          <p:cNvSpPr>
            <a:spLocks noGrp="1"/>
          </p:cNvSpPr>
          <p:nvPr/>
        </p:nvSpPr>
        <p:spPr>
          <a:xfrm>
            <a:off x="4953000" y="267652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Give month-to-month customers a clear reason to choose a one-year plan.</a:t>
            </a:r>
          </a:p>
        </p:txBody>
      </p:sp>
      <p:sp>
        <p:nvSpPr>
          <p:cNvPr id="12" name="Rectangle: Rounded Corners 11">
            <a:extLst>
              <a:ext uri="{FF2B5EF4-FFF2-40B4-BE49-F238E27FC236}">
                <a16:creationId xmlns:a16="http://schemas.microsoft.com/office/drawing/2014/main" id="{D050CA9E-DAC9-4717-95BF-F7447971E44A}"/>
              </a:ext>
            </a:extLst>
          </p:cNvPr>
          <p:cNvSpPr>
            <a:spLocks noGrp="1"/>
          </p:cNvSpPr>
          <p:nvPr/>
        </p:nvSpPr>
        <p:spPr>
          <a:xfrm>
            <a:off x="523875" y="3486150"/>
            <a:ext cx="11144250" cy="838200"/>
          </a:xfrm>
          <a:prstGeom prst="roundRect">
            <a:avLst>
              <a:gd name="adj" fmla="val 13636"/>
            </a:avLst>
          </a:prstGeom>
          <a:solidFill>
            <a:srgbClr val="EAF7FD"/>
          </a:solidFill>
          <a:ln w="19050">
            <a:solidFill>
              <a:srgbClr val="EAF7FD"/>
            </a:solidFill>
            <a:prstDash val="solid"/>
          </a:ln>
        </p:spPr>
      </p:sp>
      <p:sp>
        <p:nvSpPr>
          <p:cNvPr id="13" name="Rectangle 12">
            <a:extLst>
              <a:ext uri="{FF2B5EF4-FFF2-40B4-BE49-F238E27FC236}">
                <a16:creationId xmlns:a16="http://schemas.microsoft.com/office/drawing/2014/main" id="{C62A92AA-60E7-4BC0-91E0-40274E328733}"/>
              </a:ext>
            </a:extLst>
          </p:cNvPr>
          <p:cNvSpPr>
            <a:spLocks noGrp="1"/>
          </p:cNvSpPr>
          <p:nvPr/>
        </p:nvSpPr>
        <p:spPr>
          <a:xfrm>
            <a:off x="742950" y="367665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03</a:t>
            </a:r>
          </a:p>
        </p:txBody>
      </p:sp>
      <p:sp>
        <p:nvSpPr>
          <p:cNvPr id="14" name="Rectangle 13">
            <a:extLst>
              <a:ext uri="{FF2B5EF4-FFF2-40B4-BE49-F238E27FC236}">
                <a16:creationId xmlns:a16="http://schemas.microsoft.com/office/drawing/2014/main" id="{5906D658-12DD-4F8A-BCA1-1FBA0DBEAAAB}"/>
              </a:ext>
            </a:extLst>
          </p:cNvPr>
          <p:cNvSpPr>
            <a:spLocks noGrp="1"/>
          </p:cNvSpPr>
          <p:nvPr/>
        </p:nvSpPr>
        <p:spPr>
          <a:xfrm>
            <a:off x="1381125" y="360997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Fix fibre pain points</a:t>
            </a:r>
          </a:p>
        </p:txBody>
      </p:sp>
      <p:sp>
        <p:nvSpPr>
          <p:cNvPr id="15" name="Rectangle 14">
            <a:extLst>
              <a:ext uri="{FF2B5EF4-FFF2-40B4-BE49-F238E27FC236}">
                <a16:creationId xmlns:a16="http://schemas.microsoft.com/office/drawing/2014/main" id="{CCC79E95-3A96-4ED3-BE43-AAA4921586E7}"/>
              </a:ext>
            </a:extLst>
          </p:cNvPr>
          <p:cNvSpPr>
            <a:spLocks noGrp="1"/>
          </p:cNvSpPr>
          <p:nvPr/>
        </p:nvSpPr>
        <p:spPr>
          <a:xfrm>
            <a:off x="4953000" y="360997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Investigate fibre reliability, support, speed and price perceptions.</a:t>
            </a:r>
          </a:p>
        </p:txBody>
      </p:sp>
      <p:sp>
        <p:nvSpPr>
          <p:cNvPr id="16" name="Rectangle 15">
            <a:extLst>
              <a:ext uri="{FF2B5EF4-FFF2-40B4-BE49-F238E27FC236}">
                <a16:creationId xmlns:a16="http://schemas.microsoft.com/office/drawing/2014/main" id="{2ED6A16F-21F0-4E6D-A81E-89426627596E}"/>
              </a:ext>
            </a:extLst>
          </p:cNvPr>
          <p:cNvSpPr>
            <a:spLocks noGrp="1"/>
          </p:cNvSpPr>
          <p:nvPr/>
        </p:nvSpPr>
        <p:spPr>
          <a:xfrm>
            <a:off x="742950" y="461010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04</a:t>
            </a:r>
          </a:p>
        </p:txBody>
      </p:sp>
      <p:sp>
        <p:nvSpPr>
          <p:cNvPr id="17" name="Rectangle 16">
            <a:extLst>
              <a:ext uri="{FF2B5EF4-FFF2-40B4-BE49-F238E27FC236}">
                <a16:creationId xmlns:a16="http://schemas.microsoft.com/office/drawing/2014/main" id="{1CA5471D-7E8A-4021-861E-26275E819142}"/>
              </a:ext>
            </a:extLst>
          </p:cNvPr>
          <p:cNvSpPr>
            <a:spLocks noGrp="1"/>
          </p:cNvSpPr>
          <p:nvPr/>
        </p:nvSpPr>
        <p:spPr>
          <a:xfrm>
            <a:off x="1381125" y="454342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Intervene before cancellation</a:t>
            </a:r>
          </a:p>
        </p:txBody>
      </p:sp>
      <p:sp>
        <p:nvSpPr>
          <p:cNvPr id="18" name="Rectangle 17">
            <a:extLst>
              <a:ext uri="{FF2B5EF4-FFF2-40B4-BE49-F238E27FC236}">
                <a16:creationId xmlns:a16="http://schemas.microsoft.com/office/drawing/2014/main" id="{FA2D9201-E51F-4599-B666-B48D7A7D697C}"/>
              </a:ext>
            </a:extLst>
          </p:cNvPr>
          <p:cNvSpPr>
            <a:spLocks noGrp="1"/>
          </p:cNvSpPr>
          <p:nvPr/>
        </p:nvSpPr>
        <p:spPr>
          <a:xfrm>
            <a:off x="4953000" y="454342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Use tenure, charge and data-usage signals to prioritise proactive outreach.</a:t>
            </a:r>
          </a:p>
        </p:txBody>
      </p:sp>
      <p:sp>
        <p:nvSpPr>
          <p:cNvPr id="19" name="Rectangle: Rounded Corners 18">
            <a:extLst>
              <a:ext uri="{FF2B5EF4-FFF2-40B4-BE49-F238E27FC236}">
                <a16:creationId xmlns:a16="http://schemas.microsoft.com/office/drawing/2014/main" id="{FD51E722-902E-48F9-8C56-781CB41081C8}"/>
              </a:ext>
            </a:extLst>
          </p:cNvPr>
          <p:cNvSpPr>
            <a:spLocks noGrp="1"/>
          </p:cNvSpPr>
          <p:nvPr/>
        </p:nvSpPr>
        <p:spPr>
          <a:xfrm>
            <a:off x="523875" y="5353050"/>
            <a:ext cx="11144250" cy="838200"/>
          </a:xfrm>
          <a:prstGeom prst="roundRect">
            <a:avLst>
              <a:gd name="adj" fmla="val 13636"/>
            </a:avLst>
          </a:prstGeom>
          <a:solidFill>
            <a:srgbClr val="EAF7FD"/>
          </a:solidFill>
          <a:ln w="19050">
            <a:solidFill>
              <a:srgbClr val="EAF7FD"/>
            </a:solidFill>
            <a:prstDash val="solid"/>
          </a:ln>
        </p:spPr>
      </p:sp>
      <p:sp>
        <p:nvSpPr>
          <p:cNvPr id="20" name="Rectangle 19">
            <a:extLst>
              <a:ext uri="{FF2B5EF4-FFF2-40B4-BE49-F238E27FC236}">
                <a16:creationId xmlns:a16="http://schemas.microsoft.com/office/drawing/2014/main" id="{7C3B68DA-A096-4D86-85DB-E8C1C32ABCB4}"/>
              </a:ext>
            </a:extLst>
          </p:cNvPr>
          <p:cNvSpPr>
            <a:spLocks noGrp="1"/>
          </p:cNvSpPr>
          <p:nvPr/>
        </p:nvSpPr>
        <p:spPr>
          <a:xfrm>
            <a:off x="742950" y="5543550"/>
            <a:ext cx="523875" cy="361950"/>
          </a:xfrm>
          <a:prstGeom prst="rect">
            <a:avLst/>
          </a:prstGeom>
          <a:noFill/>
          <a:ln w="0">
            <a:noFill/>
            <a:prstDash val="solid"/>
          </a:ln>
        </p:spPr>
        <p:txBody>
          <a:bodyPr/>
          <a:lstStyle/>
          <a:p>
            <a:pPr algn="l">
              <a:defRPr sz="1950" b="1">
                <a:solidFill>
                  <a:srgbClr val="8FD3F4"/>
                </a:solidFill>
              </a:defRPr>
            </a:pPr>
            <a:r>
              <a:rPr sz="1950" b="1">
                <a:solidFill>
                  <a:srgbClr val="8FD3F4"/>
                </a:solidFill>
              </a:rPr>
              <a:t>05</a:t>
            </a:r>
          </a:p>
        </p:txBody>
      </p:sp>
      <p:sp>
        <p:nvSpPr>
          <p:cNvPr id="21" name="Rectangle 20">
            <a:extLst>
              <a:ext uri="{FF2B5EF4-FFF2-40B4-BE49-F238E27FC236}">
                <a16:creationId xmlns:a16="http://schemas.microsoft.com/office/drawing/2014/main" id="{A71FA4CA-A675-4E05-8702-EF416B31B2E8}"/>
              </a:ext>
            </a:extLst>
          </p:cNvPr>
          <p:cNvSpPr>
            <a:spLocks noGrp="1"/>
          </p:cNvSpPr>
          <p:nvPr/>
        </p:nvSpPr>
        <p:spPr>
          <a:xfrm>
            <a:off x="1381125" y="547687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Compete on customer value</a:t>
            </a:r>
          </a:p>
        </p:txBody>
      </p:sp>
      <p:sp>
        <p:nvSpPr>
          <p:cNvPr id="22" name="Rectangle 21">
            <a:extLst>
              <a:ext uri="{FF2B5EF4-FFF2-40B4-BE49-F238E27FC236}">
                <a16:creationId xmlns:a16="http://schemas.microsoft.com/office/drawing/2014/main" id="{27F02D8B-4EA2-4F92-8E11-FD3D618016A3}"/>
              </a:ext>
            </a:extLst>
          </p:cNvPr>
          <p:cNvSpPr>
            <a:spLocks noGrp="1"/>
          </p:cNvSpPr>
          <p:nvPr/>
        </p:nvSpPr>
        <p:spPr>
          <a:xfrm>
            <a:off x="4953000" y="5476875"/>
            <a:ext cx="6334125" cy="628650"/>
          </a:xfrm>
          <a:prstGeom prst="rect">
            <a:avLst/>
          </a:prstGeom>
          <a:noFill/>
          <a:ln w="0">
            <a:noFill/>
            <a:prstDash val="solid"/>
          </a:ln>
        </p:spPr>
        <p:txBody>
          <a:bodyPr/>
          <a:lstStyle/>
          <a:p>
            <a:pPr algn="l">
              <a:defRPr sz="1800" b="0">
                <a:solidFill>
                  <a:srgbClr val="000000"/>
                </a:solidFill>
              </a:defRPr>
            </a:pPr>
            <a:r>
              <a:rPr sz="1800" b="0">
                <a:solidFill>
                  <a:srgbClr val="000000"/>
                </a:solidFill>
              </a:rPr>
              <a:t>Respond to rival offers with better-fit plans, devices and service—not blanket discounts.</a:t>
            </a:r>
          </a:p>
        </p:txBody>
      </p:sp>
    </p:spTree>
    <p:extLst>
      <p:ext uri="{BB962C8B-B14F-4D97-AF65-F5344CB8AC3E}">
        <p14:creationId xmlns:p14="http://schemas.microsoft.com/office/powerpoint/2010/main" val="960691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4F736B7-7F41-456A-AB71-99D59F1DF0B6}"/>
              </a:ext>
            </a:extLst>
          </p:cNvPr>
          <p:cNvSpPr>
            <a:spLocks noGrp="1"/>
          </p:cNvSpPr>
          <p:nvPr/>
        </p:nvSpPr>
        <p:spPr>
          <a:xfrm>
            <a:off x="0" y="0"/>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50EF7AAF-0E21-4AD2-AC36-F8D74013170B}"/>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B5B8109A-7A73-4288-8DB7-ACB5AB362E1B}"/>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RECOMMENDATIONS</a:t>
            </a:r>
          </a:p>
        </p:txBody>
      </p:sp>
      <p:sp>
        <p:nvSpPr>
          <p:cNvPr id="4" name="Rectangle 3">
            <a:extLst>
              <a:ext uri="{FF2B5EF4-FFF2-40B4-BE49-F238E27FC236}">
                <a16:creationId xmlns:a16="http://schemas.microsoft.com/office/drawing/2014/main" id="{C9A50CA6-581B-439B-B979-37048953B96A}"/>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lang="en-US" sz="1950" b="1" dirty="0">
                <a:solidFill>
                  <a:srgbClr val="000000"/>
                </a:solidFill>
              </a:rPr>
              <a:t>Six </a:t>
            </a:r>
            <a:r>
              <a:rPr sz="1950" b="1" dirty="0">
                <a:solidFill>
                  <a:srgbClr val="000000"/>
                </a:solidFill>
              </a:rPr>
              <a:t>actions should form the core of the retention </a:t>
            </a:r>
            <a:r>
              <a:rPr sz="1950" b="1" dirty="0" err="1">
                <a:solidFill>
                  <a:srgbClr val="000000"/>
                </a:solidFill>
              </a:rPr>
              <a:t>programme</a:t>
            </a:r>
            <a:endParaRPr sz="1950" b="1" dirty="0">
              <a:solidFill>
                <a:srgbClr val="000000"/>
              </a:solidFill>
            </a:endParaRPr>
          </a:p>
        </p:txBody>
      </p:sp>
      <p:sp>
        <p:nvSpPr>
          <p:cNvPr id="5" name="Rectangle: Rounded Corners 4">
            <a:extLst>
              <a:ext uri="{FF2B5EF4-FFF2-40B4-BE49-F238E27FC236}">
                <a16:creationId xmlns:a16="http://schemas.microsoft.com/office/drawing/2014/main" id="{1D1D932F-6E47-4114-949D-75DC7A413F29}"/>
              </a:ext>
            </a:extLst>
          </p:cNvPr>
          <p:cNvSpPr>
            <a:spLocks noGrp="1"/>
          </p:cNvSpPr>
          <p:nvPr/>
        </p:nvSpPr>
        <p:spPr>
          <a:xfrm>
            <a:off x="523875" y="1619249"/>
            <a:ext cx="11144250" cy="1996147"/>
          </a:xfrm>
          <a:prstGeom prst="roundRect">
            <a:avLst>
              <a:gd name="adj" fmla="val 13636"/>
            </a:avLst>
          </a:prstGeom>
          <a:solidFill>
            <a:srgbClr val="EAF7FD"/>
          </a:solidFill>
          <a:ln w="19050">
            <a:solidFill>
              <a:srgbClr val="EAF7FD"/>
            </a:solidFill>
            <a:prstDash val="solid"/>
          </a:ln>
        </p:spPr>
      </p:sp>
      <p:sp>
        <p:nvSpPr>
          <p:cNvPr id="6" name="Rectangle 5">
            <a:extLst>
              <a:ext uri="{FF2B5EF4-FFF2-40B4-BE49-F238E27FC236}">
                <a16:creationId xmlns:a16="http://schemas.microsoft.com/office/drawing/2014/main" id="{DEE63DD2-64D7-4555-909E-82F266C460F8}"/>
              </a:ext>
            </a:extLst>
          </p:cNvPr>
          <p:cNvSpPr>
            <a:spLocks noGrp="1"/>
          </p:cNvSpPr>
          <p:nvPr/>
        </p:nvSpPr>
        <p:spPr>
          <a:xfrm>
            <a:off x="742950" y="1809750"/>
            <a:ext cx="523875" cy="361950"/>
          </a:xfrm>
          <a:prstGeom prst="rect">
            <a:avLst/>
          </a:prstGeom>
          <a:noFill/>
          <a:ln w="0">
            <a:noFill/>
            <a:prstDash val="solid"/>
          </a:ln>
        </p:spPr>
        <p:txBody>
          <a:bodyPr/>
          <a:lstStyle/>
          <a:p>
            <a:pPr algn="l">
              <a:defRPr sz="1950" b="1">
                <a:solidFill>
                  <a:srgbClr val="8FD3F4"/>
                </a:solidFill>
              </a:defRPr>
            </a:pPr>
            <a:r>
              <a:rPr sz="1950" b="1" dirty="0">
                <a:solidFill>
                  <a:srgbClr val="8FD3F4"/>
                </a:solidFill>
              </a:rPr>
              <a:t>0</a:t>
            </a:r>
            <a:r>
              <a:rPr lang="en-US" sz="1950" b="1" dirty="0">
                <a:solidFill>
                  <a:srgbClr val="8FD3F4"/>
                </a:solidFill>
              </a:rPr>
              <a:t>6</a:t>
            </a:r>
            <a:endParaRPr sz="1950" b="1" dirty="0">
              <a:solidFill>
                <a:srgbClr val="8FD3F4"/>
              </a:solidFill>
            </a:endParaRPr>
          </a:p>
        </p:txBody>
      </p:sp>
      <p:sp>
        <p:nvSpPr>
          <p:cNvPr id="7" name="Rectangle 6">
            <a:extLst>
              <a:ext uri="{FF2B5EF4-FFF2-40B4-BE49-F238E27FC236}">
                <a16:creationId xmlns:a16="http://schemas.microsoft.com/office/drawing/2014/main" id="{8DDA5706-9270-4724-9CC7-E26178649D69}"/>
              </a:ext>
            </a:extLst>
          </p:cNvPr>
          <p:cNvSpPr>
            <a:spLocks noGrp="1"/>
          </p:cNvSpPr>
          <p:nvPr/>
        </p:nvSpPr>
        <p:spPr>
          <a:xfrm>
            <a:off x="1381125" y="1743075"/>
            <a:ext cx="3333750" cy="552450"/>
          </a:xfrm>
          <a:prstGeom prst="rect">
            <a:avLst/>
          </a:prstGeom>
          <a:noFill/>
          <a:ln w="0">
            <a:noFill/>
            <a:prstDash val="solid"/>
          </a:ln>
        </p:spPr>
        <p:txBody>
          <a:bodyPr/>
          <a:lstStyle/>
          <a:p>
            <a:pPr algn="l">
              <a:defRPr sz="1800" b="1">
                <a:solidFill>
                  <a:srgbClr val="2F80B7"/>
                </a:solidFill>
              </a:defRPr>
            </a:pPr>
            <a:r>
              <a:rPr sz="1800" b="1">
                <a:solidFill>
                  <a:srgbClr val="2F80B7"/>
                </a:solidFill>
              </a:rPr>
              <a:t>Strengthen onboarding</a:t>
            </a:r>
          </a:p>
        </p:txBody>
      </p:sp>
      <p:sp>
        <p:nvSpPr>
          <p:cNvPr id="8" name="Rectangle 7">
            <a:extLst>
              <a:ext uri="{FF2B5EF4-FFF2-40B4-BE49-F238E27FC236}">
                <a16:creationId xmlns:a16="http://schemas.microsoft.com/office/drawing/2014/main" id="{5F21F14B-C81B-4F3E-A132-25550353AC82}"/>
              </a:ext>
            </a:extLst>
          </p:cNvPr>
          <p:cNvSpPr>
            <a:spLocks noGrp="1"/>
          </p:cNvSpPr>
          <p:nvPr/>
        </p:nvSpPr>
        <p:spPr>
          <a:xfrm>
            <a:off x="4953000" y="1743075"/>
            <a:ext cx="6334125" cy="628650"/>
          </a:xfrm>
          <a:prstGeom prst="rect">
            <a:avLst/>
          </a:prstGeom>
          <a:noFill/>
          <a:ln w="0">
            <a:noFill/>
            <a:prstDash val="solid"/>
          </a:ln>
        </p:spPr>
        <p:txBody>
          <a:bodyPr/>
          <a:lstStyle/>
          <a:p>
            <a:pPr algn="l">
              <a:defRPr sz="1800" b="0">
                <a:solidFill>
                  <a:srgbClr val="000000"/>
                </a:solidFill>
              </a:defRPr>
            </a:pPr>
            <a:endParaRPr sz="1800" b="0" dirty="0">
              <a:solidFill>
                <a:srgbClr val="000000"/>
              </a:solidFill>
            </a:endParaRPr>
          </a:p>
        </p:txBody>
      </p:sp>
      <p:sp>
        <p:nvSpPr>
          <p:cNvPr id="24" name="TextBox 23">
            <a:extLst>
              <a:ext uri="{FF2B5EF4-FFF2-40B4-BE49-F238E27FC236}">
                <a16:creationId xmlns:a16="http://schemas.microsoft.com/office/drawing/2014/main" id="{F0A99593-509E-45CF-9EDF-0AD47DEB0B94}"/>
              </a:ext>
            </a:extLst>
          </p:cNvPr>
          <p:cNvSpPr txBox="1"/>
          <p:nvPr/>
        </p:nvSpPr>
        <p:spPr>
          <a:xfrm>
            <a:off x="4333874" y="1762859"/>
            <a:ext cx="6751467" cy="1754326"/>
          </a:xfrm>
          <a:prstGeom prst="rect">
            <a:avLst/>
          </a:prstGeom>
          <a:noFill/>
        </p:spPr>
        <p:txBody>
          <a:bodyPr wrap="square" rtlCol="0">
            <a:spAutoFit/>
          </a:bodyPr>
          <a:lstStyle/>
          <a:p>
            <a:r>
              <a:rPr lang="en-US"/>
              <a:t>Introduce location-based retention strategies by prioritising areas with the highest churn rates, particularly Tank Bus Stop and Abuloma. Customer complaints, network performance, pricing and competitor activity should be reviewed in these locations, while successful practices from lower-churn locations such as Isiokpo should be identified and applied where appropriate</a:t>
            </a:r>
            <a:endParaRPr lang="en-US" dirty="0"/>
          </a:p>
        </p:txBody>
      </p:sp>
    </p:spTree>
    <p:extLst>
      <p:ext uri="{BB962C8B-B14F-4D97-AF65-F5344CB8AC3E}">
        <p14:creationId xmlns:p14="http://schemas.microsoft.com/office/powerpoint/2010/main" val="1917833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EF7AAF-0E21-4AD2-AC36-F8D74013170B}"/>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B5B8109A-7A73-4288-8DB7-ACB5AB362E1B}"/>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RECOMMENDATIONS</a:t>
            </a:r>
          </a:p>
        </p:txBody>
      </p:sp>
      <p:sp>
        <p:nvSpPr>
          <p:cNvPr id="4" name="Rectangle 3">
            <a:extLst>
              <a:ext uri="{FF2B5EF4-FFF2-40B4-BE49-F238E27FC236}">
                <a16:creationId xmlns:a16="http://schemas.microsoft.com/office/drawing/2014/main" id="{C9A50CA6-581B-439B-B979-37048953B96A}"/>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lang="en-US" sz="1950" b="1" dirty="0">
                <a:solidFill>
                  <a:srgbClr val="000000"/>
                </a:solidFill>
              </a:rPr>
              <a:t>six</a:t>
            </a:r>
            <a:r>
              <a:rPr sz="1950" b="1" dirty="0">
                <a:solidFill>
                  <a:srgbClr val="000000"/>
                </a:solidFill>
              </a:rPr>
              <a:t> actions should form the core of the retention </a:t>
            </a:r>
            <a:r>
              <a:rPr sz="1950" b="1" dirty="0" err="1">
                <a:solidFill>
                  <a:srgbClr val="000000"/>
                </a:solidFill>
              </a:rPr>
              <a:t>programme</a:t>
            </a:r>
            <a:endParaRPr sz="1950" b="1" dirty="0">
              <a:solidFill>
                <a:srgbClr val="000000"/>
              </a:solidFill>
            </a:endParaRPr>
          </a:p>
        </p:txBody>
      </p:sp>
      <p:sp>
        <p:nvSpPr>
          <p:cNvPr id="6" name="Rectangle 5">
            <a:extLst>
              <a:ext uri="{FF2B5EF4-FFF2-40B4-BE49-F238E27FC236}">
                <a16:creationId xmlns:a16="http://schemas.microsoft.com/office/drawing/2014/main" id="{DEE63DD2-64D7-4555-909E-82F266C460F8}"/>
              </a:ext>
            </a:extLst>
          </p:cNvPr>
          <p:cNvSpPr>
            <a:spLocks noGrp="1"/>
          </p:cNvSpPr>
          <p:nvPr/>
        </p:nvSpPr>
        <p:spPr>
          <a:xfrm>
            <a:off x="661182" y="1809750"/>
            <a:ext cx="605643" cy="361950"/>
          </a:xfrm>
          <a:prstGeom prst="rect">
            <a:avLst/>
          </a:prstGeom>
          <a:noFill/>
          <a:ln w="0">
            <a:noFill/>
            <a:prstDash val="solid"/>
          </a:ln>
        </p:spPr>
        <p:txBody>
          <a:bodyPr/>
          <a:lstStyle/>
          <a:p>
            <a:pPr algn="l">
              <a:defRPr sz="1950" b="1">
                <a:solidFill>
                  <a:srgbClr val="8FD3F4"/>
                </a:solidFill>
              </a:defRPr>
            </a:pPr>
            <a:r>
              <a:rPr sz="1950" b="1" dirty="0">
                <a:solidFill>
                  <a:srgbClr val="8FD3F4"/>
                </a:solidFill>
              </a:rPr>
              <a:t>0</a:t>
            </a:r>
            <a:r>
              <a:rPr lang="en-US" sz="1950" b="1" dirty="0">
                <a:solidFill>
                  <a:srgbClr val="8FD3F4"/>
                </a:solidFill>
              </a:rPr>
              <a:t>6</a:t>
            </a:r>
            <a:endParaRPr sz="1950" b="1" dirty="0">
              <a:solidFill>
                <a:srgbClr val="8FD3F4"/>
              </a:solidFill>
            </a:endParaRPr>
          </a:p>
        </p:txBody>
      </p:sp>
      <p:sp>
        <p:nvSpPr>
          <p:cNvPr id="7" name="Rectangle 6">
            <a:extLst>
              <a:ext uri="{FF2B5EF4-FFF2-40B4-BE49-F238E27FC236}">
                <a16:creationId xmlns:a16="http://schemas.microsoft.com/office/drawing/2014/main" id="{8DDA5706-9270-4724-9CC7-E26178649D69}"/>
              </a:ext>
            </a:extLst>
          </p:cNvPr>
          <p:cNvSpPr>
            <a:spLocks noGrp="1"/>
          </p:cNvSpPr>
          <p:nvPr/>
        </p:nvSpPr>
        <p:spPr>
          <a:xfrm>
            <a:off x="1004887" y="1809750"/>
            <a:ext cx="3333750" cy="552450"/>
          </a:xfrm>
          <a:prstGeom prst="rect">
            <a:avLst/>
          </a:prstGeom>
          <a:noFill/>
          <a:ln w="0">
            <a:noFill/>
            <a:prstDash val="solid"/>
          </a:ln>
        </p:spPr>
        <p:txBody>
          <a:bodyPr/>
          <a:lstStyle/>
          <a:p>
            <a:pPr algn="l">
              <a:defRPr sz="1800" b="1">
                <a:solidFill>
                  <a:srgbClr val="2F80B7"/>
                </a:solidFill>
              </a:defRPr>
            </a:pPr>
            <a:r>
              <a:rPr lang="en-US" sz="1800" b="1" dirty="0">
                <a:solidFill>
                  <a:srgbClr val="2F80B7"/>
                </a:solidFill>
              </a:rPr>
              <a:t>Target high churn location</a:t>
            </a:r>
            <a:endParaRPr sz="1800" b="1" dirty="0">
              <a:solidFill>
                <a:srgbClr val="2F80B7"/>
              </a:solidFill>
            </a:endParaRPr>
          </a:p>
        </p:txBody>
      </p:sp>
      <p:sp>
        <p:nvSpPr>
          <p:cNvPr id="25" name="TextBox 24">
            <a:extLst>
              <a:ext uri="{FF2B5EF4-FFF2-40B4-BE49-F238E27FC236}">
                <a16:creationId xmlns:a16="http://schemas.microsoft.com/office/drawing/2014/main" id="{C13444FF-5680-45C6-B1BF-134609C0BBCC}"/>
              </a:ext>
            </a:extLst>
          </p:cNvPr>
          <p:cNvSpPr txBox="1"/>
          <p:nvPr/>
        </p:nvSpPr>
        <p:spPr>
          <a:xfrm>
            <a:off x="3886200" y="1657350"/>
            <a:ext cx="8401050" cy="1477328"/>
          </a:xfrm>
          <a:prstGeom prst="rect">
            <a:avLst/>
          </a:prstGeom>
          <a:noFill/>
        </p:spPr>
        <p:txBody>
          <a:bodyPr wrap="square">
            <a:spAutoFit/>
          </a:bodyPr>
          <a:lstStyle/>
          <a:p>
            <a:r>
              <a:rPr lang="en-US" dirty="0"/>
              <a:t>Introduce location-based retention strategies by </a:t>
            </a:r>
            <a:r>
              <a:rPr lang="en-US" dirty="0" err="1"/>
              <a:t>prioritising</a:t>
            </a:r>
            <a:r>
              <a:rPr lang="en-US" dirty="0"/>
              <a:t> areas with the highest churn rates, particularly Tank Bus Stop and </a:t>
            </a:r>
            <a:r>
              <a:rPr lang="en-US" dirty="0" err="1"/>
              <a:t>Abuloma</a:t>
            </a:r>
            <a:r>
              <a:rPr lang="en-US" dirty="0"/>
              <a:t>. Customer complaints, network performance, pricing and competitor activity should be reviewed in these locations, while successful practices from lower-churn locations such as </a:t>
            </a:r>
            <a:r>
              <a:rPr lang="en-US" dirty="0" err="1"/>
              <a:t>Isiokpo</a:t>
            </a:r>
            <a:r>
              <a:rPr lang="en-US" dirty="0"/>
              <a:t> should be identified and applied where appropriate.</a:t>
            </a:r>
          </a:p>
        </p:txBody>
      </p:sp>
    </p:spTree>
    <p:extLst>
      <p:ext uri="{BB962C8B-B14F-4D97-AF65-F5344CB8AC3E}">
        <p14:creationId xmlns:p14="http://schemas.microsoft.com/office/powerpoint/2010/main" val="2729553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72B6591-1D24-423C-A95C-F2431D20C8E3}"/>
              </a:ext>
            </a:extLst>
          </p:cNvPr>
          <p:cNvSpPr>
            <a:spLocks noGrp="1"/>
          </p:cNvSpPr>
          <p:nvPr/>
        </p:nvSpPr>
        <p:spPr>
          <a:xfrm>
            <a:off x="0" y="0"/>
            <a:ext cx="12192000" cy="1428750"/>
          </a:xfrm>
          <a:prstGeom prst="rect">
            <a:avLst/>
          </a:prstGeom>
          <a:solidFill>
            <a:schemeClr val="bg1"/>
          </a:solidFill>
          <a:ln w="0">
            <a:solidFill>
              <a:srgbClr val="BFE7F8"/>
            </a:solidFill>
            <a:prstDash val="solid"/>
          </a:ln>
        </p:spPr>
      </p:sp>
      <p:sp>
        <p:nvSpPr>
          <p:cNvPr id="2" name="Rectangle 1">
            <a:extLst>
              <a:ext uri="{FF2B5EF4-FFF2-40B4-BE49-F238E27FC236}">
                <a16:creationId xmlns:a16="http://schemas.microsoft.com/office/drawing/2014/main" id="{17B9B410-896E-4754-92DC-40CD12AF7CA5}"/>
              </a:ext>
            </a:extLst>
          </p:cNvPr>
          <p:cNvSpPr>
            <a:spLocks noGrp="1"/>
          </p:cNvSpPr>
          <p:nvPr/>
        </p:nvSpPr>
        <p:spPr>
          <a:xfrm>
            <a:off x="0" y="1390650"/>
            <a:ext cx="12192000" cy="57150"/>
          </a:xfrm>
          <a:prstGeom prst="rect">
            <a:avLst/>
          </a:prstGeom>
          <a:solidFill>
            <a:srgbClr val="2F80B7"/>
          </a:solidFill>
          <a:ln w="0">
            <a:solidFill>
              <a:srgbClr val="2F80B7"/>
            </a:solidFill>
            <a:prstDash val="solid"/>
          </a:ln>
        </p:spPr>
      </p:sp>
      <p:sp>
        <p:nvSpPr>
          <p:cNvPr id="3" name="Rectangle 2">
            <a:extLst>
              <a:ext uri="{FF2B5EF4-FFF2-40B4-BE49-F238E27FC236}">
                <a16:creationId xmlns:a16="http://schemas.microsoft.com/office/drawing/2014/main" id="{D70C7FCF-1294-4093-AF1F-9B109C207AB0}"/>
              </a:ext>
            </a:extLst>
          </p:cNvPr>
          <p:cNvSpPr>
            <a:spLocks noGrp="1"/>
          </p:cNvSpPr>
          <p:nvPr/>
        </p:nvSpPr>
        <p:spPr>
          <a:xfrm>
            <a:off x="552450" y="228600"/>
            <a:ext cx="6667500" cy="323850"/>
          </a:xfrm>
          <a:prstGeom prst="rect">
            <a:avLst/>
          </a:prstGeom>
          <a:noFill/>
          <a:ln w="0">
            <a:noFill/>
            <a:prstDash val="solid"/>
          </a:ln>
        </p:spPr>
        <p:txBody>
          <a:bodyPr/>
          <a:lstStyle/>
          <a:p>
            <a:pPr algn="l">
              <a:defRPr sz="1800" b="1">
                <a:solidFill>
                  <a:srgbClr val="2F80B7"/>
                </a:solidFill>
              </a:defRPr>
            </a:pPr>
            <a:r>
              <a:rPr sz="1800" b="1">
                <a:solidFill>
                  <a:srgbClr val="2F80B7"/>
                </a:solidFill>
              </a:rPr>
              <a:t>CONCLUSION</a:t>
            </a:r>
          </a:p>
        </p:txBody>
      </p:sp>
      <p:sp>
        <p:nvSpPr>
          <p:cNvPr id="4" name="Rectangle 3">
            <a:extLst>
              <a:ext uri="{FF2B5EF4-FFF2-40B4-BE49-F238E27FC236}">
                <a16:creationId xmlns:a16="http://schemas.microsoft.com/office/drawing/2014/main" id="{311948F9-9905-4AF7-8028-B0CB3FBD5064}"/>
              </a:ext>
            </a:extLst>
          </p:cNvPr>
          <p:cNvSpPr>
            <a:spLocks noGrp="1"/>
          </p:cNvSpPr>
          <p:nvPr/>
        </p:nvSpPr>
        <p:spPr>
          <a:xfrm>
            <a:off x="552450" y="628650"/>
            <a:ext cx="11049000" cy="628650"/>
          </a:xfrm>
          <a:prstGeom prst="rect">
            <a:avLst/>
          </a:prstGeom>
          <a:noFill/>
          <a:ln w="0">
            <a:noFill/>
            <a:prstDash val="solid"/>
          </a:ln>
        </p:spPr>
        <p:txBody>
          <a:bodyPr/>
          <a:lstStyle/>
          <a:p>
            <a:pPr algn="l">
              <a:defRPr sz="1950" b="1">
                <a:solidFill>
                  <a:srgbClr val="000000"/>
                </a:solidFill>
              </a:defRPr>
            </a:pPr>
            <a:r>
              <a:rPr sz="1950" b="1">
                <a:solidFill>
                  <a:srgbClr val="000000"/>
                </a:solidFill>
              </a:rPr>
              <a:t>Retention growth depends on improving the early customer experience</a:t>
            </a:r>
          </a:p>
        </p:txBody>
      </p:sp>
      <p:sp>
        <p:nvSpPr>
          <p:cNvPr id="5" name="Rectangle: Rounded Corners 4">
            <a:extLst>
              <a:ext uri="{FF2B5EF4-FFF2-40B4-BE49-F238E27FC236}">
                <a16:creationId xmlns:a16="http://schemas.microsoft.com/office/drawing/2014/main" id="{65B6C6F0-037B-4FD2-8F6D-D9404E23A2F1}"/>
              </a:ext>
            </a:extLst>
          </p:cNvPr>
          <p:cNvSpPr>
            <a:spLocks noGrp="1"/>
          </p:cNvSpPr>
          <p:nvPr/>
        </p:nvSpPr>
        <p:spPr>
          <a:xfrm>
            <a:off x="666750" y="1857375"/>
            <a:ext cx="10858500" cy="1619250"/>
          </a:xfrm>
          <a:prstGeom prst="roundRect">
            <a:avLst>
              <a:gd name="adj" fmla="val 7059"/>
            </a:avLst>
          </a:prstGeom>
          <a:solidFill>
            <a:srgbClr val="EAF7FD"/>
          </a:solidFill>
          <a:ln w="19050">
            <a:solidFill>
              <a:srgbClr val="2F80B7"/>
            </a:solidFill>
            <a:prstDash val="solid"/>
          </a:ln>
        </p:spPr>
      </p:sp>
      <p:sp>
        <p:nvSpPr>
          <p:cNvPr id="6" name="Rectangle 5">
            <a:extLst>
              <a:ext uri="{FF2B5EF4-FFF2-40B4-BE49-F238E27FC236}">
                <a16:creationId xmlns:a16="http://schemas.microsoft.com/office/drawing/2014/main" id="{4D805084-5F0C-4E74-AA1C-6A85F67E4873}"/>
              </a:ext>
            </a:extLst>
          </p:cNvPr>
          <p:cNvSpPr>
            <a:spLocks noGrp="1"/>
          </p:cNvSpPr>
          <p:nvPr/>
        </p:nvSpPr>
        <p:spPr>
          <a:xfrm>
            <a:off x="1047750" y="2238375"/>
            <a:ext cx="10096500" cy="904875"/>
          </a:xfrm>
          <a:prstGeom prst="rect">
            <a:avLst/>
          </a:prstGeom>
          <a:noFill/>
          <a:ln w="0">
            <a:noFill/>
            <a:prstDash val="solid"/>
          </a:ln>
        </p:spPr>
        <p:txBody>
          <a:bodyPr/>
          <a:lstStyle/>
          <a:p>
            <a:pPr algn="ctr">
              <a:defRPr sz="1800" b="0">
                <a:solidFill>
                  <a:srgbClr val="000000"/>
                </a:solidFill>
              </a:defRPr>
            </a:pPr>
            <a:r>
              <a:rPr sz="1800" b="0">
                <a:solidFill>
                  <a:srgbClr val="000000"/>
                </a:solidFill>
              </a:rPr>
              <a:t>The customer base is mostly stable, but churn is concentrated among new customers, month-to-month subscribers, fibre users, high-charge customers and heavy data users.</a:t>
            </a:r>
          </a:p>
        </p:txBody>
      </p:sp>
      <p:sp>
        <p:nvSpPr>
          <p:cNvPr id="7" name="Rectangle: Rounded Corners 6">
            <a:extLst>
              <a:ext uri="{FF2B5EF4-FFF2-40B4-BE49-F238E27FC236}">
                <a16:creationId xmlns:a16="http://schemas.microsoft.com/office/drawing/2014/main" id="{6D8C9A33-EB7F-4ADE-9958-45F222466506}"/>
              </a:ext>
            </a:extLst>
          </p:cNvPr>
          <p:cNvSpPr>
            <a:spLocks noGrp="1"/>
          </p:cNvSpPr>
          <p:nvPr/>
        </p:nvSpPr>
        <p:spPr>
          <a:xfrm>
            <a:off x="666750" y="3762375"/>
            <a:ext cx="10858500" cy="1571625"/>
          </a:xfrm>
          <a:prstGeom prst="roundRect">
            <a:avLst>
              <a:gd name="adj" fmla="val 7273"/>
            </a:avLst>
          </a:prstGeom>
          <a:solidFill>
            <a:schemeClr val="bg1"/>
          </a:solidFill>
          <a:ln w="19050">
            <a:solidFill>
              <a:srgbClr val="2F80B7"/>
            </a:solidFill>
            <a:prstDash val="solid"/>
          </a:ln>
        </p:spPr>
        <p:txBody>
          <a:bodyPr/>
          <a:lstStyle/>
          <a:p>
            <a:endParaRPr lang="en-US" dirty="0"/>
          </a:p>
        </p:txBody>
      </p:sp>
      <p:sp>
        <p:nvSpPr>
          <p:cNvPr id="11" name="TextBox 10">
            <a:extLst>
              <a:ext uri="{FF2B5EF4-FFF2-40B4-BE49-F238E27FC236}">
                <a16:creationId xmlns:a16="http://schemas.microsoft.com/office/drawing/2014/main" id="{39A32A3C-1580-4CE0-A1B5-A2C2131E9722}"/>
              </a:ext>
            </a:extLst>
          </p:cNvPr>
          <p:cNvSpPr txBox="1"/>
          <p:nvPr/>
        </p:nvSpPr>
        <p:spPr>
          <a:xfrm>
            <a:off x="1164686" y="4099707"/>
            <a:ext cx="9693813" cy="646331"/>
          </a:xfrm>
          <a:prstGeom prst="rect">
            <a:avLst/>
          </a:prstGeom>
          <a:noFill/>
        </p:spPr>
        <p:txBody>
          <a:bodyPr wrap="square" rtlCol="0">
            <a:spAutoFit/>
          </a:bodyPr>
          <a:lstStyle/>
          <a:p>
            <a:r>
              <a:rPr lang="en-US" dirty="0"/>
              <a:t>The company should combine targeted outreach with service improvements and longer term value offers, using segment level churn as the measure of success</a:t>
            </a:r>
          </a:p>
        </p:txBody>
      </p:sp>
    </p:spTree>
    <p:extLst>
      <p:ext uri="{BB962C8B-B14F-4D97-AF65-F5344CB8AC3E}">
        <p14:creationId xmlns:p14="http://schemas.microsoft.com/office/powerpoint/2010/main" val="165758301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1617</Words>
  <Application>Microsoft Office PowerPoint</Application>
  <DocSecurity>0</DocSecurity>
  <PresentationFormat>Widescreen</PresentationFormat>
  <Paragraphs>217</Paragraphs>
  <Slides>19</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12</cp:revision>
  <dcterms:created xsi:type="dcterms:W3CDTF">2026-08-28T03:16:00Z</dcterms:created>
  <dcterms:modified xsi:type="dcterms:W3CDTF">2026-09-01T17:14:50Z</dcterms:modified>
</cp:coreProperties>
</file>